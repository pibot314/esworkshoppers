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70" r:id="rId21"/>
    <p:sldId id="273" r:id="rId24"/>
    <p:sldId id="258" r:id="rId9"/>
    <p:sldId id="259" r:id="rId10"/>
    <p:sldId id="277" r:id="rId28"/>
    <p:sldId id="263" r:id="rId14"/>
    <p:sldId id="262" r:id="rId13"/>
    <p:sldId id="260" r:id="rId11"/>
    <p:sldId id="261" r:id="rId12"/>
    <p:sldId id="274" r:id="rId25"/>
    <p:sldId id="275" r:id="rId26"/>
    <p:sldId id="276" r:id="rId27"/>
    <p:sldId id="264" r:id="rId15"/>
    <p:sldId id="265" r:id="rId16"/>
    <p:sldId id="266" r:id="rId17"/>
    <p:sldId id="267" r:id="rId18"/>
    <p:sldId id="268" r:id="rId19"/>
    <p:sldId id="278" r:id="rId29"/>
    <p:sldId id="279" r:id="rId30"/>
    <p:sldId id="281" r:id="rId32"/>
    <p:sldId id="284" r:id="rId35"/>
    <p:sldId id="283" r:id="rId34"/>
    <p:sldId id="282" r:id="rId33"/>
    <p:sldId id="272" r:id="rId23"/>
    <p:sldId id="280"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E8ECCA-3AE9-4C4A-B1EA-EB0F8E1248D3}">
  <a:tblStyle styleId="{6FE8ECCA-3AE9-4C4A-B1EA-EB0F8E1248D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41c81cde5a34f503_3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41c81cde5a34f503_3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41c81cde5a34f50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41c81cde5a34f50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41c81cde5a34f503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41c81cde5a34f503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41c81cde5a34f503_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41c81cde5a34f503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h41c81cde5a34f503_9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h41c81cde5a34f503_9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41c81cde5a34f503_9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41c81cde5a34f503_9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41c81cde5a34f503_9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41c81cde5a34f503_9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41c81cde5a34f503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41c81cde5a34f503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41c81cde5a34f503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h41c81cde5a34f503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41c81cde5a34f503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h41c81cde5a34f503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41c81cde5a34f503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h41c81cde5a34f503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41c81cde5a34f503_6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h41c81cde5a34f503_6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41c81cde5a34f503_6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h41c81cde5a34f503_6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h41c81cde5a34f503_6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h41c81cde5a34f503_6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3f1aeab68e8dc36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3f1aeab68e8dc36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h3f1aeab68e8dc36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h3f1aeab68e8dc36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3f1aeab68e8dc365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h3f1aeab68e8dc36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3f1aeab68e8dc36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h3f1aeab68e8dc36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h3f1aeab68e8dc365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h3f1aeab68e8dc36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3f1aeab68e8dc36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3f1aeab68e8dc36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2b2a7bac8d4a12b4_1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2b2a7bac8d4a12b4_1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2b2a7bac8d4a12b4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h2b2a7bac8d4a12b4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www.researchgate.net/publication/399567462_Time-Series_Analysis_of_Sensor_Data_for_Smart_Devices" TargetMode="External"/><Relationship Id="rId4" Type="http://schemas.openxmlformats.org/officeDocument/2006/relationships/hyperlink" Target="https://link.springer.com/article/10.1007/s00521-023-09398-9"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dashboard_inject_spike.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7950" y="2335700"/>
            <a:ext cx="7688100" cy="96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Edge AI for Net-Zero</a:t>
            </a:r>
            <a:endParaRPr/>
          </a:p>
        </p:txBody>
      </p:sp>
      <p:sp>
        <p:nvSpPr>
          <p:cNvPr id="87" name="Google Shape;87;p13"/>
          <p:cNvSpPr txBox="1"/>
          <p:nvPr>
            <p:ph idx="1" type="subTitle"/>
          </p:nvPr>
        </p:nvSpPr>
        <p:spPr>
          <a:xfrm>
            <a:off x="727952" y="30438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Team: esworkingshoppers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aphicFrame>
        <p:nvGraphicFramePr>
          <p:cNvPr id="92" name="Google Shape;92;p14"/>
          <p:cNvGraphicFramePr/>
          <p:nvPr/>
        </p:nvGraphicFramePr>
        <p:xfrm>
          <a:off x="142174" y="-20584"/>
          <a:ext cx="3000000" cy="3000000"/>
        </p:xfrm>
        <a:graphic>
          <a:graphicData uri="http://schemas.openxmlformats.org/drawingml/2006/table">
            <a:tbl>
              <a:tblPr>
                <a:noFill/>
                <a:tableStyleId>{6FE8ECCA-3AE9-4C4A-B1EA-EB0F8E1248D3}</a:tableStyleId>
              </a:tblPr>
              <a:tblGrid>
                <a:gridCol w="610050"/>
                <a:gridCol w="2442900"/>
                <a:gridCol w="5559300"/>
              </a:tblGrid>
              <a:tr h="347160">
                <a:tc>
                  <a:txBody>
                    <a:bodyPr/>
                    <a:lstStyle/>
                    <a:p>
                      <a:pPr indent="0" lvl="0" marL="0" rtl="0" algn="ctr">
                        <a:lnSpc>
                          <a:spcPct val="100000"/>
                        </a:lnSpc>
                        <a:spcBef>
                          <a:spcPts val="0"/>
                        </a:spcBef>
                        <a:spcAft>
                          <a:spcPts val="0"/>
                        </a:spcAft>
                        <a:buNone/>
                      </a:pPr>
                      <a:r>
                        <a:rPr b="1" lang="en-GB" sz="1100"/>
                        <a:t>Done</a:t>
                      </a:r>
                      <a:endParaRPr b="1" sz="1100"/>
                    </a:p>
                  </a:txBody>
                  <a:tcPr marT="45720" marB="45720" marR="91425" marL="91425"/>
                </a:tc>
                <a:tc>
                  <a:txBody>
                    <a:bodyPr/>
                    <a:lstStyle/>
                    <a:p>
                      <a:pPr indent="0" lvl="0" marL="0" rtl="0" algn="ctr">
                        <a:lnSpc>
                          <a:spcPct val="100000"/>
                        </a:lnSpc>
                        <a:spcBef>
                          <a:spcPts val="0"/>
                        </a:spcBef>
                        <a:spcAft>
                          <a:spcPts val="0"/>
                        </a:spcAft>
                        <a:buNone/>
                      </a:pPr>
                      <a:r>
                        <a:rPr b="1" lang="en-GB" sz="1100"/>
                        <a:t>Phase</a:t>
                      </a:r>
                      <a:endParaRPr b="1" sz="1100"/>
                    </a:p>
                  </a:txBody>
                  <a:tcPr marT="45720" marB="45720" marR="91425" marL="91425"/>
                </a:tc>
                <a:tc>
                  <a:txBody>
                    <a:bodyPr/>
                    <a:lstStyle/>
                    <a:p>
                      <a:pPr indent="0" lvl="0" marL="0" rtl="0" algn="ctr">
                        <a:lnSpc>
                          <a:spcPct val="100000"/>
                        </a:lnSpc>
                        <a:spcBef>
                          <a:spcPts val="0"/>
                        </a:spcBef>
                        <a:spcAft>
                          <a:spcPts val="0"/>
                        </a:spcAft>
                        <a:buNone/>
                      </a:pPr>
                      <a:r>
                        <a:rPr b="1" lang="en-GB" sz="1100"/>
                        <a:t>Checklist item</a:t>
                      </a:r>
                      <a:endParaRPr b="1" sz="1100"/>
                    </a:p>
                  </a:txBody>
                  <a:tcPr marT="45720" marB="45720" marR="91425" marL="91425"/>
                </a:tc>
              </a:tr>
              <a:tr h="436966">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rPr b="1" lang="en-GB" sz="1100"/>
                        <a:t>1. Problem Understanding &amp; Research</a:t>
                      </a:r>
                      <a:endParaRPr b="1" sz="1100"/>
                    </a:p>
                  </a:txBody>
                  <a:tcPr marT="45720" marB="45720" marR="91425" marL="91425"/>
                </a:tc>
                <a:tc>
                  <a:txBody>
                    <a:bodyPr/>
                    <a:lstStyle/>
                    <a:p>
                      <a:pPr indent="0" lvl="0" marL="0" rtl="0" algn="l">
                        <a:spcBef>
                          <a:spcPts val="0"/>
                        </a:spcBef>
                        <a:spcAft>
                          <a:spcPts val="0"/>
                        </a:spcAft>
                        <a:buNone/>
                      </a:pPr>
                      <a:r>
                        <a:rPr lang="en-GB" sz="1200"/>
                        <a:t>Understand the problem domain</a:t>
                      </a:r>
                      <a:endParaRPr sz="1200"/>
                    </a:p>
                  </a:txBody>
                  <a:tcPr marT="45720" marB="45720" marR="91425" marL="91425"/>
                </a:tc>
              </a:tr>
              <a:tr h="357803">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t/>
                      </a:r>
                      <a:endParaRPr/>
                    </a:p>
                  </a:txBody>
                  <a:tcPr marT="45720" marB="45720" marR="91425" marL="91425"/>
                </a:tc>
                <a:tc>
                  <a:txBody>
                    <a:bodyPr/>
                    <a:lstStyle/>
                    <a:p>
                      <a:pPr indent="0" lvl="0" marL="0" rtl="0" algn="l">
                        <a:spcBef>
                          <a:spcPts val="0"/>
                        </a:spcBef>
                        <a:spcAft>
                          <a:spcPts val="0"/>
                        </a:spcAft>
                        <a:buNone/>
                      </a:pPr>
                      <a:r>
                        <a:rPr lang="en-GB" sz="1200"/>
                        <a:t>Conduct preliminary research</a:t>
                      </a:r>
                      <a:endParaRPr sz="1200"/>
                    </a:p>
                  </a:txBody>
                  <a:tcPr marT="45720" marB="45720" marR="91425" marL="91425"/>
                </a:tc>
              </a:tr>
              <a:tr h="357803">
                <a:tc>
                  <a:txBody>
                    <a:bodyPr/>
                    <a:lstStyle/>
                    <a:p>
                      <a:pPr indent="0" lvl="0" marL="0" rtl="0" algn="ctr">
                        <a:lnSpc>
                          <a:spcPct val="100000"/>
                        </a:lnSpc>
                        <a:spcBef>
                          <a:spcPts val="0"/>
                        </a:spcBef>
                        <a:spcAft>
                          <a:spcPts val="0"/>
                        </a:spcAft>
                        <a:buNone/>
                      </a:pPr>
                      <a:r>
                        <a:rPr lang="en-GB"/>
                        <a:t>[ ]</a:t>
                      </a:r>
                      <a:endParaRPr/>
                    </a:p>
                  </a:txBody>
                  <a:tcPr marT="45720" marB="45720" marR="91425" marL="91425"/>
                </a:tc>
                <a:tc>
                  <a:txBody>
                    <a:bodyPr/>
                    <a:lstStyle/>
                    <a:p>
                      <a:pPr indent="0" lvl="0" marL="0" rtl="0" algn="l">
                        <a:spcBef>
                          <a:spcPts val="0"/>
                        </a:spcBef>
                        <a:spcAft>
                          <a:spcPts val="0"/>
                        </a:spcAft>
                        <a:buNone/>
                      </a:pPr>
                      <a:r>
                        <a:t/>
                      </a:r>
                      <a:endParaRPr/>
                    </a:p>
                  </a:txBody>
                  <a:tcPr marT="45720" marB="45720" marR="91425" marL="91425"/>
                </a:tc>
                <a:tc>
                  <a:txBody>
                    <a:bodyPr/>
                    <a:lstStyle/>
                    <a:p>
                      <a:pPr indent="0" lvl="0" marL="0" rtl="0" algn="l">
                        <a:spcBef>
                          <a:spcPts val="0"/>
                        </a:spcBef>
                        <a:spcAft>
                          <a:spcPts val="0"/>
                        </a:spcAft>
                        <a:buNone/>
                      </a:pPr>
                      <a:r>
                        <a:rPr lang="en-GB" sz="1200"/>
                        <a:t>Formulate a clear problem statement</a:t>
                      </a:r>
                      <a:endParaRPr sz="1200"/>
                    </a:p>
                  </a:txBody>
                  <a:tcPr marT="45720" marB="45720" marR="91425" marL="91425"/>
                </a:tc>
              </a:tr>
              <a:tr h="370617">
                <a:tc>
                  <a:txBody>
                    <a:bodyPr/>
                    <a:lstStyle/>
                    <a:p>
                      <a:pPr indent="0" lvl="0" marL="0" rtl="0" algn="ctr">
                        <a:lnSpc>
                          <a:spcPct val="100000"/>
                        </a:lnSpc>
                        <a:spcBef>
                          <a:spcPts val="0"/>
                        </a:spcBef>
                        <a:spcAft>
                          <a:spcPts val="0"/>
                        </a:spcAft>
                        <a:buNone/>
                      </a:pPr>
                      <a:r>
                        <a:rPr lang="en-GB"/>
                        <a:t>[ ]</a:t>
                      </a:r>
                      <a:endParaRPr/>
                    </a:p>
                  </a:txBody>
                  <a:tcPr marT="45720" marB="45720" marR="91425" marL="91425"/>
                </a:tc>
                <a:tc>
                  <a:txBody>
                    <a:bodyPr/>
                    <a:lstStyle/>
                    <a:p>
                      <a:pPr indent="0" lvl="0" marL="0" rtl="0" algn="l">
                        <a:spcBef>
                          <a:spcPts val="0"/>
                        </a:spcBef>
                        <a:spcAft>
                          <a:spcPts val="0"/>
                        </a:spcAft>
                        <a:buNone/>
                      </a:pPr>
                      <a:r>
                        <a:t/>
                      </a:r>
                      <a:endParaRPr/>
                    </a:p>
                  </a:txBody>
                  <a:tcPr marT="45720" marB="45720" marR="91425" marL="91425"/>
                </a:tc>
                <a:tc>
                  <a:txBody>
                    <a:bodyPr/>
                    <a:lstStyle/>
                    <a:p>
                      <a:pPr indent="0" lvl="0" marL="0" rtl="0" algn="l">
                        <a:spcBef>
                          <a:spcPts val="0"/>
                        </a:spcBef>
                        <a:spcAft>
                          <a:spcPts val="0"/>
                        </a:spcAft>
                        <a:buNone/>
                      </a:pPr>
                      <a:r>
                        <a:rPr lang="en-GB" sz="1200"/>
                        <a:t>Conduct further research based on the finalized problem statement</a:t>
                      </a:r>
                      <a:endParaRPr sz="1200"/>
                    </a:p>
                  </a:txBody>
                  <a:tcPr marT="45720" marB="45720" marR="91425" marL="91425"/>
                </a:tc>
              </a:tr>
              <a:tr h="357803">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rPr b="1" lang="en-GB" sz="1100"/>
                        <a:t>2. Data Preparation &amp; Analysis</a:t>
                      </a:r>
                      <a:endParaRPr b="1" sz="1100"/>
                    </a:p>
                  </a:txBody>
                  <a:tcPr marT="45720" marB="45720" marR="91425" marL="91425"/>
                </a:tc>
                <a:tc>
                  <a:txBody>
                    <a:bodyPr/>
                    <a:lstStyle/>
                    <a:p>
                      <a:pPr indent="0" lvl="0" marL="0" rtl="0" algn="l">
                        <a:spcBef>
                          <a:spcPts val="0"/>
                        </a:spcBef>
                        <a:spcAft>
                          <a:spcPts val="0"/>
                        </a:spcAft>
                        <a:buNone/>
                      </a:pPr>
                      <a:r>
                        <a:rPr lang="en-GB" sz="1200"/>
                        <a:t>Clean and preprocess the available energy-domain data</a:t>
                      </a:r>
                      <a:endParaRPr sz="1200"/>
                    </a:p>
                  </a:txBody>
                  <a:tcPr marT="45720" marB="45720" marR="91425" marL="91425"/>
                </a:tc>
              </a:tr>
              <a:tr h="357803">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t/>
                      </a:r>
                      <a:endParaRPr/>
                    </a:p>
                  </a:txBody>
                  <a:tcPr marT="45720" marB="45720" marR="91425" marL="91425"/>
                </a:tc>
                <a:tc>
                  <a:txBody>
                    <a:bodyPr/>
                    <a:lstStyle/>
                    <a:p>
                      <a:pPr indent="0" lvl="0" marL="0" rtl="0" algn="l">
                        <a:spcBef>
                          <a:spcPts val="0"/>
                        </a:spcBef>
                        <a:spcAft>
                          <a:spcPts val="0"/>
                        </a:spcAft>
                        <a:buNone/>
                      </a:pPr>
                      <a:r>
                        <a:rPr lang="en-GB" sz="1200"/>
                        <a:t>Perform exploratory data analysis and visualization</a:t>
                      </a:r>
                      <a:endParaRPr sz="1200"/>
                    </a:p>
                  </a:txBody>
                  <a:tcPr marT="45720" marB="45720" marR="91425" marL="91425"/>
                </a:tc>
              </a:tr>
              <a:tr h="563622">
                <a:tc>
                  <a:txBody>
                    <a:bodyPr/>
                    <a:lstStyle/>
                    <a:p>
                      <a:pPr indent="0" lvl="0" marL="0" rtl="0" algn="ctr">
                        <a:lnSpc>
                          <a:spcPct val="100000"/>
                        </a:lnSpc>
                        <a:spcBef>
                          <a:spcPts val="0"/>
                        </a:spcBef>
                        <a:spcAft>
                          <a:spcPts val="0"/>
                        </a:spcAft>
                        <a:buNone/>
                      </a:pPr>
                      <a:r>
                        <a:rPr lang="en-GB"/>
                        <a:t>[ ]</a:t>
                      </a:r>
                      <a:endParaRPr/>
                    </a:p>
                    <a:p>
                      <a:pPr indent="0" lvl="0" marL="0" rtl="0" algn="ctr">
                        <a:lnSpc>
                          <a:spcPct val="100000"/>
                        </a:lnSpc>
                        <a:spcBef>
                          <a:spcPts val="0"/>
                        </a:spcBef>
                        <a:spcAft>
                          <a:spcPts val="0"/>
                        </a:spcAft>
                        <a:buNone/>
                      </a:pPr>
                      <a:r>
                        <a:rPr lang="en-GB"/>
                        <a:t>[ ]</a:t>
                      </a:r>
                      <a:endParaRPr/>
                    </a:p>
                  </a:txBody>
                  <a:tcPr marT="45720" marB="45720" marR="91425" marL="91425"/>
                </a:tc>
                <a:tc>
                  <a:txBody>
                    <a:bodyPr/>
                    <a:lstStyle/>
                    <a:p>
                      <a:pPr indent="0" lvl="0" marL="0" rtl="0" algn="l">
                        <a:spcBef>
                          <a:spcPts val="0"/>
                        </a:spcBef>
                        <a:spcAft>
                          <a:spcPts val="0"/>
                        </a:spcAft>
                        <a:buNone/>
                      </a:pPr>
                      <a:r>
                        <a:t/>
                      </a:r>
                      <a:endParaRPr/>
                    </a:p>
                  </a:txBody>
                  <a:tcPr marT="45720" marB="45720" marR="91425" marL="91425"/>
                </a:tc>
                <a:tc>
                  <a:txBody>
                    <a:bodyPr/>
                    <a:lstStyle/>
                    <a:p>
                      <a:pPr indent="0" lvl="0" marL="0" rtl="0" algn="l">
                        <a:spcBef>
                          <a:spcPts val="0"/>
                        </a:spcBef>
                        <a:spcAft>
                          <a:spcPts val="0"/>
                        </a:spcAft>
                        <a:buNone/>
                      </a:pPr>
                      <a:r>
                        <a:rPr lang="en-GB" sz="1200"/>
                        <a:t>Water-domain data will be provided at a later stage</a:t>
                      </a:r>
                      <a:endParaRPr sz="1200"/>
                    </a:p>
                    <a:p>
                      <a:pPr indent="0" lvl="0" marL="0" rtl="0" algn="l">
                        <a:spcBef>
                          <a:spcPts val="0"/>
                        </a:spcBef>
                        <a:spcAft>
                          <a:spcPts val="0"/>
                        </a:spcAft>
                        <a:buNone/>
                      </a:pPr>
                      <a:r>
                        <a:rPr lang="en-GB" sz="1200"/>
                        <a:t>After API is provided, will create ingestion pipeline for live updates</a:t>
                      </a:r>
                      <a:endParaRPr sz="1200"/>
                    </a:p>
                  </a:txBody>
                  <a:tcPr marT="45720" marB="45720" marR="91425" marL="91425"/>
                </a:tc>
              </a:tr>
              <a:tr h="452790">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rPr b="1" lang="en-GB" sz="1100"/>
                        <a:t>3. Baseline Model Development</a:t>
                      </a:r>
                      <a:endParaRPr b="1" sz="1100"/>
                    </a:p>
                  </a:txBody>
                  <a:tcPr marT="45720" marB="45720" marR="91425" marL="91425"/>
                </a:tc>
                <a:tc>
                  <a:txBody>
                    <a:bodyPr/>
                    <a:lstStyle/>
                    <a:p>
                      <a:pPr indent="0" lvl="0" marL="0" rtl="0" algn="l">
                        <a:spcBef>
                          <a:spcPts val="0"/>
                        </a:spcBef>
                        <a:spcAft>
                          <a:spcPts val="0"/>
                        </a:spcAft>
                        <a:buNone/>
                      </a:pPr>
                      <a:r>
                        <a:rPr lang="en-GB" sz="1200"/>
                        <a:t>Develop a basic model for each domain using ML-based regression or deep learning</a:t>
                      </a:r>
                      <a:endParaRPr sz="1200"/>
                    </a:p>
                  </a:txBody>
                  <a:tcPr marT="45720" marB="45720" marR="91425" marL="91425"/>
                </a:tc>
              </a:tr>
              <a:tr h="357803">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t/>
                      </a:r>
                      <a:endParaRPr/>
                    </a:p>
                  </a:txBody>
                  <a:tcPr marT="45720" marB="45720" marR="91425" marL="91425"/>
                </a:tc>
                <a:tc>
                  <a:txBody>
                    <a:bodyPr/>
                    <a:lstStyle/>
                    <a:p>
                      <a:pPr indent="0" lvl="0" marL="0" rtl="0" algn="l">
                        <a:spcBef>
                          <a:spcPts val="0"/>
                        </a:spcBef>
                        <a:spcAft>
                          <a:spcPts val="0"/>
                        </a:spcAft>
                        <a:buNone/>
                      </a:pPr>
                      <a:r>
                        <a:rPr lang="en-GB" sz="1200"/>
                        <a:t>Train and evaluate the models</a:t>
                      </a:r>
                      <a:endParaRPr sz="1200"/>
                    </a:p>
                  </a:txBody>
                  <a:tcPr marT="45720" marB="45720" marR="91425" marL="91425"/>
                </a:tc>
              </a:tr>
              <a:tr h="357803">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t/>
                      </a:r>
                      <a:endParaRPr/>
                    </a:p>
                  </a:txBody>
                  <a:tcPr marT="45720" marB="45720" marR="91425" marL="91425"/>
                </a:tc>
                <a:tc>
                  <a:txBody>
                    <a:bodyPr/>
                    <a:lstStyle/>
                    <a:p>
                      <a:pPr indent="0" lvl="0" marL="0" rtl="0" algn="l">
                        <a:spcBef>
                          <a:spcPts val="0"/>
                        </a:spcBef>
                        <a:spcAft>
                          <a:spcPts val="0"/>
                        </a:spcAft>
                        <a:buNone/>
                      </a:pPr>
                      <a:r>
                        <a:rPr lang="en-GB" sz="1200"/>
                        <a:t>Demonstrate the initial results through a basic working demo (live dashboard on the QIDK)</a:t>
                      </a:r>
                      <a:endParaRPr sz="1200"/>
                    </a:p>
                  </a:txBody>
                  <a:tcPr marT="45720" marB="45720" marR="91425" marL="91425"/>
                </a:tc>
              </a:tr>
              <a:tr h="357803">
                <a:tc>
                  <a:txBody>
                    <a:bodyPr/>
                    <a:lstStyle/>
                    <a:p>
                      <a:pPr indent="0" lvl="0" marL="0" rtl="0" algn="ctr">
                        <a:lnSpc>
                          <a:spcPct val="100000"/>
                        </a:lnSpc>
                        <a:spcBef>
                          <a:spcPts val="0"/>
                        </a:spcBef>
                        <a:spcAft>
                          <a:spcPts val="0"/>
                        </a:spcAft>
                        <a:buNone/>
                      </a:pPr>
                      <a:r>
                        <a:rPr lang="en-GB"/>
                        <a:t>[o]</a:t>
                      </a:r>
                      <a:endParaRPr/>
                    </a:p>
                  </a:txBody>
                  <a:tcPr marT="45720" marB="45720" marR="91425" marL="91425"/>
                </a:tc>
                <a:tc>
                  <a:txBody>
                    <a:bodyPr/>
                    <a:lstStyle/>
                    <a:p>
                      <a:pPr indent="0" lvl="0" marL="0" rtl="0" algn="l">
                        <a:spcBef>
                          <a:spcPts val="0"/>
                        </a:spcBef>
                        <a:spcAft>
                          <a:spcPts val="0"/>
                        </a:spcAft>
                        <a:buNone/>
                      </a:pPr>
                      <a:r>
                        <a:rPr lang="en-GB" sz="1100" b="1"/>
                        <a:t>4. Edge Deployment (new)</a:t>
                      </a:r>
                      <a:endParaRPr/>
                    </a:p>
                  </a:txBody>
                  <a:tcPr marT="45720" marB="45720" marR="91425" marL="91425"/>
                </a:tc>
                <a:tc>
                  <a:txBody>
                    <a:bodyPr/>
                    <a:lstStyle/>
                    <a:p>
                      <a:pPr indent="0" lvl="0" marL="0" rtl="0" algn="l">
                        <a:spcBef>
                          <a:spcPts val="0"/>
                        </a:spcBef>
                        <a:spcAft>
                          <a:spcPts val="0"/>
                        </a:spcAft>
                        <a:buNone/>
                      </a:pPr>
                      <a:r>
                        <a:rPr lang="en-GB" sz="1200" b="1"/>
                        <a:t>Quantized with Qualcomm AIMET, running on the QIDK’s NPU, verified against the original models</a:t>
                      </a:r>
                      <a:endParaRPr sz="1200"/>
                    </a:p>
                  </a:txBody>
                  <a:tcPr marT="45720" marB="45720"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Analysis</a:t>
            </a:r>
            <a:endParaRPr/>
          </a:p>
        </p:txBody>
      </p:sp>
      <p:sp>
        <p:nvSpPr>
          <p:cNvPr id="98" name="Google Shape;98;p15"/>
          <p:cNvSpPr txBox="1"/>
          <p:nvPr>
            <p:ph idx="1" type="body"/>
          </p:nvPr>
        </p:nvSpPr>
        <p:spPr>
          <a:xfrm>
            <a:off x="403500" y="1853850"/>
            <a:ext cx="8340600" cy="303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Prior to any model, the data must be analysed to identify trends, broken data and </a:t>
            </a:r>
            <a:r>
              <a:rPr lang="en-GB"/>
              <a:t>anomalies</a:t>
            </a:r>
            <a:r>
              <a:rPr lang="en-GB"/>
              <a:t>.</a:t>
            </a:r>
            <a:endParaRPr/>
          </a:p>
          <a:p>
            <a:pPr indent="0" lvl="0" marL="0" rtl="0" algn="l">
              <a:spcBef>
                <a:spcPts val="1200"/>
              </a:spcBef>
              <a:spcAft>
                <a:spcPts val="0"/>
              </a:spcAft>
              <a:buNone/>
            </a:pPr>
            <a:r>
              <a:rPr lang="en-GB"/>
              <a:t>Initial Steps:</a:t>
            </a:r>
            <a:br>
              <a:rPr lang="en-GB"/>
            </a:br>
            <a:r>
              <a:rPr lang="en-GB"/>
              <a:t>1) </a:t>
            </a:r>
            <a:r>
              <a:rPr lang="en-GB"/>
              <a:t>Separated</a:t>
            </a:r>
            <a:r>
              <a:rPr lang="en-GB"/>
              <a:t> data based on version</a:t>
            </a:r>
            <a:br>
              <a:rPr lang="en-GB"/>
            </a:br>
            <a:r>
              <a:rPr lang="en-GB"/>
              <a:t>2) </a:t>
            </a:r>
            <a:r>
              <a:rPr lang="en-GB"/>
              <a:t>Separated</a:t>
            </a:r>
            <a:r>
              <a:rPr lang="en-GB"/>
              <a:t> further based on version, and aligned the matching columns to provide continuous information</a:t>
            </a:r>
            <a:br>
              <a:rPr lang="en-GB"/>
            </a:br>
            <a:r>
              <a:rPr lang="en-GB"/>
              <a:t>3) Removed Null Columns and sensors with too much error - further explained next slide.</a:t>
            </a:r>
            <a:br>
              <a:rPr lang="en-GB"/>
            </a:br>
            <a:r>
              <a:rPr lang="en-GB"/>
              <a:t>4) Generated Graphs to get basic understanding of Data </a:t>
            </a:r>
            <a:endParaRPr/>
          </a:p>
          <a:p>
            <a:pPr indent="0" lvl="0" marL="0" rtl="0" algn="l">
              <a:spcBef>
                <a:spcPts val="1200"/>
              </a:spcBef>
              <a:spcAft>
                <a:spcPts val="1200"/>
              </a:spcAft>
              <a:buNone/>
            </a:pPr>
            <a:r>
              <a:rPr lang="en-GB"/>
              <a:t>Some fixes:</a:t>
            </a:r>
            <a:br>
              <a:rPr lang="en-GB"/>
            </a:br>
            <a:r>
              <a:rPr lang="en-GB"/>
              <a:t>2 timestamp columns - resolved by picking the correct one</a:t>
            </a:r>
            <a:br>
              <a:rPr lang="en-GB"/>
            </a:br>
            <a:r>
              <a:rPr lang="en-GB"/>
              <a:t>Units not matching - operated on entire column</a:t>
            </a:r>
            <a:br>
              <a:rPr lang="en-GB"/>
            </a:br>
            <a:r>
              <a:rPr lang="en-GB"/>
              <a:t>Operations taking too long - Used parquet for operations, csv for reading clearly. Also created summary reports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Auditing</a:t>
            </a:r>
            <a:endParaRPr/>
          </a:p>
        </p:txBody>
      </p:sp>
      <p:sp>
        <p:nvSpPr>
          <p:cNvPr id="104" name="Google Shape;104;p16"/>
          <p:cNvSpPr txBox="1"/>
          <p:nvPr>
            <p:ph idx="1" type="body"/>
          </p:nvPr>
        </p:nvSpPr>
        <p:spPr>
          <a:xfrm>
            <a:off x="729450" y="2078875"/>
            <a:ext cx="7688700" cy="257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rgbClr val="434343"/>
                </a:solidFill>
              </a:rPr>
              <a:t>Our data removed:</a:t>
            </a:r>
            <a:endParaRPr sz="1200">
              <a:solidFill>
                <a:srgbClr val="434343"/>
              </a:solidFill>
            </a:endParaRPr>
          </a:p>
          <a:p>
            <a:pPr indent="-304800" lvl="0" marL="457200" rtl="0" algn="l">
              <a:spcBef>
                <a:spcPts val="1200"/>
              </a:spcBef>
              <a:spcAft>
                <a:spcPts val="0"/>
              </a:spcAft>
              <a:buClr>
                <a:srgbClr val="434343"/>
              </a:buClr>
              <a:buSzPts val="1200"/>
              <a:buChar char="-"/>
            </a:pPr>
            <a:r>
              <a:rPr lang="en-GB" sz="1200">
                <a:solidFill>
                  <a:srgbClr val="434343"/>
                </a:solidFill>
              </a:rPr>
              <a:t>D</a:t>
            </a:r>
            <a:r>
              <a:rPr lang="en-GB" sz="1200">
                <a:solidFill>
                  <a:srgbClr val="434343"/>
                </a:solidFill>
              </a:rPr>
              <a:t>ropped 4 non-viable nodes (</a:t>
            </a:r>
            <a:r>
              <a:rPr lang="en-GB" sz="1200">
                <a:solidFill>
                  <a:srgbClr val="434343"/>
                </a:solidFill>
                <a:latin typeface="Arial"/>
                <a:ea typeface="Arial"/>
                <a:cs typeface="Arial"/>
                <a:sym typeface="Arial"/>
              </a:rPr>
              <a:t>SB00-01, SL-VN02-00, SL-VN03-00 V1.0.1 and V2.0.1) - frozen values across long stretches of time.</a:t>
            </a:r>
            <a:endParaRPr sz="1200">
              <a:solidFill>
                <a:srgbClr val="434343"/>
              </a:solidFill>
              <a:latin typeface="Arial"/>
              <a:ea typeface="Arial"/>
              <a:cs typeface="Arial"/>
              <a:sym typeface="Arial"/>
            </a:endParaRPr>
          </a:p>
          <a:p>
            <a:pPr indent="-304800" lvl="0" marL="457200" rtl="0" algn="l">
              <a:spcBef>
                <a:spcPts val="0"/>
              </a:spcBef>
              <a:spcAft>
                <a:spcPts val="0"/>
              </a:spcAft>
              <a:buClr>
                <a:srgbClr val="434343"/>
              </a:buClr>
              <a:buSzPts val="1200"/>
              <a:buFont typeface="Arial"/>
              <a:buChar char="-"/>
            </a:pPr>
            <a:r>
              <a:rPr lang="en-GB" sz="1200">
                <a:solidFill>
                  <a:srgbClr val="434343"/>
                </a:solidFill>
                <a:latin typeface="Arial"/>
                <a:ea typeface="Arial"/>
                <a:cs typeface="Arial"/>
                <a:sym typeface="Arial"/>
              </a:rPr>
              <a:t>Fixed inverted meter wiring on SL-PL00-00 (which logged 97.5% negative solar generation) using sign correction.</a:t>
            </a:r>
            <a:endParaRPr sz="1200">
              <a:solidFill>
                <a:srgbClr val="434343"/>
              </a:solidFill>
              <a:latin typeface="Arial"/>
              <a:ea typeface="Arial"/>
              <a:cs typeface="Arial"/>
              <a:sym typeface="Arial"/>
            </a:endParaRPr>
          </a:p>
          <a:p>
            <a:pPr indent="-304800" lvl="0" marL="457200" rtl="0" algn="l">
              <a:spcBef>
                <a:spcPts val="0"/>
              </a:spcBef>
              <a:spcAft>
                <a:spcPts val="0"/>
              </a:spcAft>
              <a:buClr>
                <a:srgbClr val="434343"/>
              </a:buClr>
              <a:buSzPts val="1200"/>
              <a:buFont typeface="Arial"/>
              <a:buChar char="-"/>
            </a:pPr>
            <a:r>
              <a:rPr lang="en-GB" sz="1200">
                <a:solidFill>
                  <a:srgbClr val="434343"/>
                </a:solidFill>
                <a:latin typeface="Arial"/>
                <a:ea typeface="Arial"/>
                <a:cs typeface="Arial"/>
                <a:sym typeface="Arial"/>
              </a:rPr>
              <a:t>Unit Standardization: Standardized the inconsistent units into uniform physical Watts (W) </a:t>
            </a:r>
            <a:endParaRPr sz="1200">
              <a:solidFill>
                <a:srgbClr val="434343"/>
              </a:solidFill>
              <a:latin typeface="Arial"/>
              <a:ea typeface="Arial"/>
              <a:cs typeface="Arial"/>
              <a:sym typeface="Arial"/>
            </a:endParaRPr>
          </a:p>
          <a:p>
            <a:pPr indent="-304800" lvl="0" marL="457200" rtl="0" algn="l">
              <a:spcBef>
                <a:spcPts val="0"/>
              </a:spcBef>
              <a:spcAft>
                <a:spcPts val="0"/>
              </a:spcAft>
              <a:buClr>
                <a:srgbClr val="434343"/>
              </a:buClr>
              <a:buSzPts val="1200"/>
              <a:buFont typeface="Arial"/>
              <a:buChar char="-"/>
            </a:pPr>
            <a:r>
              <a:rPr lang="en-GB" sz="1200">
                <a:solidFill>
                  <a:srgbClr val="434343"/>
                </a:solidFill>
                <a:latin typeface="Arial"/>
                <a:ea typeface="Arial"/>
                <a:cs typeface="Arial"/>
                <a:sym typeface="Arial"/>
              </a:rPr>
              <a:t>Aligned readings into 15-minute grids with IST cyclic temporal embeddings (sin/cos for hour, day-of-week, and day-of-year). </a:t>
            </a:r>
            <a:br>
              <a:rPr lang="en-GB" sz="1200">
                <a:solidFill>
                  <a:srgbClr val="434343"/>
                </a:solidFill>
                <a:latin typeface="Arial"/>
                <a:ea typeface="Arial"/>
                <a:cs typeface="Arial"/>
                <a:sym typeface="Arial"/>
              </a:rPr>
            </a:br>
            <a:r>
              <a:rPr lang="en-GB" sz="1200">
                <a:solidFill>
                  <a:srgbClr val="434343"/>
                </a:solidFill>
                <a:latin typeface="Arial"/>
                <a:ea typeface="Arial"/>
                <a:cs typeface="Arial"/>
                <a:sym typeface="Arial"/>
              </a:rPr>
              <a:t>(Cyclic Temporal Embeddings are a </a:t>
            </a:r>
            <a:r>
              <a:rPr lang="en-GB" sz="1200">
                <a:solidFill>
                  <a:srgbClr val="434343"/>
                </a:solidFill>
                <a:latin typeface="Arial"/>
                <a:ea typeface="Arial"/>
                <a:cs typeface="Arial"/>
                <a:sym typeface="Arial"/>
              </a:rPr>
              <a:t>technique</a:t>
            </a:r>
            <a:r>
              <a:rPr lang="en-GB" sz="1200">
                <a:solidFill>
                  <a:srgbClr val="434343"/>
                </a:solidFill>
                <a:latin typeface="Arial"/>
                <a:ea typeface="Arial"/>
                <a:cs typeface="Arial"/>
                <a:sym typeface="Arial"/>
              </a:rPr>
              <a:t> used to essentially represent that time is circular rather than saying 23:59 and 00:01 is 24 hours apart, similarly for day of week and day of year).</a:t>
            </a:r>
            <a:endParaRPr sz="1200">
              <a:solidFill>
                <a:srgbClr val="43434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Graphs and Insights</a:t>
            </a:r>
            <a:endParaRPr/>
          </a:p>
        </p:txBody>
      </p:sp>
      <p:sp>
        <p:nvSpPr>
          <p:cNvPr id="110" name="Google Shape;110;p17"/>
          <p:cNvSpPr txBox="1"/>
          <p:nvPr>
            <p:ph idx="1" type="body"/>
          </p:nvPr>
        </p:nvSpPr>
        <p:spPr>
          <a:xfrm>
            <a:off x="729450" y="1751600"/>
            <a:ext cx="7688700" cy="3855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434343"/>
              </a:buClr>
              <a:buSzPts val="1100"/>
              <a:buFont typeface="Arial"/>
              <a:buChar char="-"/>
            </a:pPr>
            <a:r>
              <a:rPr lang="en-GB" sz="1100">
                <a:solidFill>
                  <a:srgbClr val="434343"/>
                </a:solidFill>
              </a:rPr>
              <a:t>Clearly visible - a clear issue in data in October to December 2025 - EM-CR-KH95</a:t>
            </a:r>
            <a:endParaRPr sz="1100">
              <a:solidFill>
                <a:srgbClr val="434343"/>
              </a:solidFill>
              <a:latin typeface="Arial"/>
              <a:ea typeface="Arial"/>
              <a:cs typeface="Arial"/>
              <a:sym typeface="Arial"/>
            </a:endParaRPr>
          </a:p>
        </p:txBody>
      </p:sp>
      <p:pic>
        <p:nvPicPr>
          <p:cNvPr id="111" name="Google Shape;111;p17" title="B Current_fast_render.png"/>
          <p:cNvPicPr preferRelativeResize="0"/>
          <p:nvPr/>
        </p:nvPicPr>
        <p:blipFill>
          <a:blip r:embed="rId3">
            <a:alphaModFix/>
          </a:blip>
          <a:stretch>
            <a:fillRect/>
          </a:stretch>
        </p:blipFill>
        <p:spPr>
          <a:xfrm>
            <a:off x="101250" y="2410163"/>
            <a:ext cx="4552350" cy="2276175"/>
          </a:xfrm>
          <a:prstGeom prst="rect">
            <a:avLst/>
          </a:prstGeom>
          <a:noFill/>
          <a:ln>
            <a:noFill/>
          </a:ln>
        </p:spPr>
      </p:pic>
      <p:pic>
        <p:nvPicPr>
          <p:cNvPr id="112" name="Google Shape;112;p17" title="Frequency_fast_render.png"/>
          <p:cNvPicPr preferRelativeResize="0"/>
          <p:nvPr/>
        </p:nvPicPr>
        <p:blipFill>
          <a:blip r:embed="rId4">
            <a:alphaModFix/>
          </a:blip>
          <a:stretch>
            <a:fillRect/>
          </a:stretch>
        </p:blipFill>
        <p:spPr>
          <a:xfrm>
            <a:off x="4653600" y="2446459"/>
            <a:ext cx="4407249" cy="220361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Graphs and Insights</a:t>
            </a:r>
            <a:endParaRPr/>
          </a:p>
        </p:txBody>
      </p:sp>
      <p:sp>
        <p:nvSpPr>
          <p:cNvPr id="118" name="Google Shape;118;p18"/>
          <p:cNvSpPr txBox="1"/>
          <p:nvPr>
            <p:ph idx="1" type="body"/>
          </p:nvPr>
        </p:nvSpPr>
        <p:spPr>
          <a:xfrm>
            <a:off x="729450" y="1751600"/>
            <a:ext cx="7688700" cy="579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solidFill>
                  <a:srgbClr val="434343"/>
                </a:solidFill>
              </a:rPr>
              <a:t>A day in a smart room (SR-EM-KH04-01,02) are almost the same - you can see clear trends of current usage dropping after 12 - 5 AM. The electricity starts being used more often after that.</a:t>
            </a:r>
            <a:endParaRPr sz="1100">
              <a:solidFill>
                <a:srgbClr val="434343"/>
              </a:solidFill>
              <a:latin typeface="Arial"/>
              <a:ea typeface="Arial"/>
              <a:cs typeface="Arial"/>
              <a:sym typeface="Arial"/>
            </a:endParaRPr>
          </a:p>
        </p:txBody>
      </p:sp>
      <p:pic>
        <p:nvPicPr>
          <p:cNvPr id="119" name="Google Shape;119;p18" title="Current_median_profile.png"/>
          <p:cNvPicPr preferRelativeResize="0"/>
          <p:nvPr/>
        </p:nvPicPr>
        <p:blipFill>
          <a:blip r:embed="rId3">
            <a:alphaModFix/>
          </a:blip>
          <a:stretch>
            <a:fillRect/>
          </a:stretch>
        </p:blipFill>
        <p:spPr>
          <a:xfrm>
            <a:off x="4714025" y="2482275"/>
            <a:ext cx="4357248" cy="2178611"/>
          </a:xfrm>
          <a:prstGeom prst="rect">
            <a:avLst/>
          </a:prstGeom>
          <a:noFill/>
          <a:ln>
            <a:noFill/>
          </a:ln>
        </p:spPr>
      </p:pic>
      <p:pic>
        <p:nvPicPr>
          <p:cNvPr id="120" name="Google Shape;120;p18" title="Current_median_profile.png"/>
          <p:cNvPicPr preferRelativeResize="0"/>
          <p:nvPr/>
        </p:nvPicPr>
        <p:blipFill>
          <a:blip r:embed="rId4">
            <a:alphaModFix/>
          </a:blip>
          <a:stretch>
            <a:fillRect/>
          </a:stretch>
        </p:blipFill>
        <p:spPr>
          <a:xfrm>
            <a:off x="214750" y="2482263"/>
            <a:ext cx="4357248" cy="21786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Major Features of Solar Sensors</a:t>
            </a:r>
            <a:endParaRPr/>
          </a:p>
        </p:txBody>
      </p:sp>
      <p:sp>
        <p:nvSpPr>
          <p:cNvPr id="126" name="Google Shape;126;p19"/>
          <p:cNvSpPr txBox="1"/>
          <p:nvPr>
            <p:ph idx="1" type="body"/>
          </p:nvPr>
        </p:nvSpPr>
        <p:spPr>
          <a:xfrm>
            <a:off x="729450" y="1751600"/>
            <a:ext cx="7688700" cy="311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200">
                <a:solidFill>
                  <a:srgbClr val="24292E"/>
                </a:solidFill>
                <a:latin typeface="Arial"/>
                <a:ea typeface="Arial"/>
                <a:cs typeface="Arial"/>
                <a:sym typeface="Arial"/>
              </a:rPr>
              <a:t>SL-NI03-00 - Solar Inverter Node</a:t>
            </a:r>
            <a:endParaRPr b="1" sz="1200">
              <a:solidFill>
                <a:srgbClr val="24292E"/>
              </a:solidFill>
              <a:latin typeface="Arial"/>
              <a:ea typeface="Arial"/>
              <a:cs typeface="Arial"/>
              <a:sym typeface="Arial"/>
            </a:endParaRPr>
          </a:p>
          <a:p>
            <a:pPr indent="-304800" lvl="0" marL="457200" rtl="0" algn="l">
              <a:spcBef>
                <a:spcPts val="1200"/>
              </a:spcBef>
              <a:spcAft>
                <a:spcPts val="0"/>
              </a:spcAft>
              <a:buClr>
                <a:srgbClr val="24292E"/>
              </a:buClr>
              <a:buSzPts val="1200"/>
              <a:buFont typeface="Arial"/>
              <a:buChar char="-"/>
            </a:pPr>
            <a:r>
              <a:rPr b="1" lang="en-GB" sz="1200">
                <a:solidFill>
                  <a:srgbClr val="24292E"/>
                </a:solidFill>
                <a:latin typeface="Arial"/>
                <a:ea typeface="Arial"/>
                <a:cs typeface="Arial"/>
                <a:sym typeface="Arial"/>
              </a:rPr>
              <a:t>DC Solar Tracking:</a:t>
            </a:r>
            <a:r>
              <a:rPr lang="en-GB" sz="1200">
                <a:solidFill>
                  <a:srgbClr val="24292E"/>
                </a:solidFill>
                <a:latin typeface="Arial"/>
                <a:ea typeface="Arial"/>
                <a:cs typeface="Arial"/>
                <a:sym typeface="Arial"/>
              </a:rPr>
              <a:t> Per-string V, I, P for up to 6 PV arrays.</a:t>
            </a:r>
            <a:endParaRPr sz="1200">
              <a:solidFill>
                <a:srgbClr val="24292E"/>
              </a:solidFill>
              <a:latin typeface="Arial"/>
              <a:ea typeface="Arial"/>
              <a:cs typeface="Arial"/>
              <a:sym typeface="Arial"/>
            </a:endParaRPr>
          </a:p>
          <a:p>
            <a:pPr indent="-304800" lvl="0" marL="457200" rtl="0" algn="l">
              <a:spcBef>
                <a:spcPts val="0"/>
              </a:spcBef>
              <a:spcAft>
                <a:spcPts val="0"/>
              </a:spcAft>
              <a:buClr>
                <a:srgbClr val="24292E"/>
              </a:buClr>
              <a:buSzPts val="1200"/>
              <a:buFont typeface="Arial"/>
              <a:buChar char="-"/>
            </a:pPr>
            <a:r>
              <a:rPr b="1" lang="en-GB" sz="1200">
                <a:solidFill>
                  <a:srgbClr val="24292E"/>
                </a:solidFill>
                <a:latin typeface="Arial"/>
                <a:ea typeface="Arial"/>
                <a:cs typeface="Arial"/>
                <a:sym typeface="Arial"/>
              </a:rPr>
              <a:t>AC Phase Outputs:</a:t>
            </a:r>
            <a:r>
              <a:rPr lang="en-GB" sz="1200">
                <a:solidFill>
                  <a:srgbClr val="24292E"/>
                </a:solidFill>
                <a:latin typeface="Arial"/>
                <a:ea typeface="Arial"/>
                <a:cs typeface="Arial"/>
                <a:sym typeface="Arial"/>
              </a:rPr>
              <a:t> 3-phase individual AC outputs and line-to-line voltages (V_{RS}, V_{ST}, V_{TR}).</a:t>
            </a:r>
            <a:endParaRPr sz="1200">
              <a:solidFill>
                <a:srgbClr val="24292E"/>
              </a:solidFill>
              <a:latin typeface="Arial"/>
              <a:ea typeface="Arial"/>
              <a:cs typeface="Arial"/>
              <a:sym typeface="Arial"/>
            </a:endParaRPr>
          </a:p>
          <a:p>
            <a:pPr indent="-304800" lvl="0" marL="457200" rtl="0" algn="l">
              <a:spcBef>
                <a:spcPts val="0"/>
              </a:spcBef>
              <a:spcAft>
                <a:spcPts val="0"/>
              </a:spcAft>
              <a:buClr>
                <a:srgbClr val="24292E"/>
              </a:buClr>
              <a:buSzPts val="1200"/>
              <a:buFont typeface="Arial"/>
              <a:buChar char="-"/>
            </a:pPr>
            <a:r>
              <a:rPr b="1" lang="en-GB" sz="1200">
                <a:solidFill>
                  <a:srgbClr val="24292E"/>
                </a:solidFill>
                <a:latin typeface="Arial"/>
                <a:ea typeface="Arial"/>
                <a:cs typeface="Arial"/>
                <a:sym typeface="Arial"/>
              </a:rPr>
              <a:t>Yield Metrics:</a:t>
            </a:r>
            <a:r>
              <a:rPr lang="en-GB" sz="1200">
                <a:solidFill>
                  <a:srgbClr val="24292E"/>
                </a:solidFill>
                <a:latin typeface="Arial"/>
                <a:ea typeface="Arial"/>
                <a:cs typeface="Arial"/>
                <a:sym typeface="Arial"/>
              </a:rPr>
              <a:t> Daily energy (Eac_today), lifetime energy (Eac_total), active power, grid frequency, PF.</a:t>
            </a:r>
            <a:endParaRPr sz="1200">
              <a:solidFill>
                <a:srgbClr val="24292E"/>
              </a:solidFill>
              <a:latin typeface="Arial"/>
              <a:ea typeface="Arial"/>
              <a:cs typeface="Arial"/>
              <a:sym typeface="Arial"/>
            </a:endParaRPr>
          </a:p>
          <a:p>
            <a:pPr indent="0" lvl="0" marL="0" rtl="0" algn="l">
              <a:spcBef>
                <a:spcPts val="1200"/>
              </a:spcBef>
              <a:spcAft>
                <a:spcPts val="0"/>
              </a:spcAft>
              <a:buNone/>
            </a:pPr>
            <a:r>
              <a:rPr b="1" lang="en-GB" sz="1200">
                <a:solidFill>
                  <a:srgbClr val="24292E"/>
                </a:solidFill>
                <a:latin typeface="Arial"/>
                <a:ea typeface="Arial"/>
                <a:cs typeface="Arial"/>
                <a:sym typeface="Arial"/>
              </a:rPr>
              <a:t>SL-VN95-00 — Advanced Grid &amp; Power Quality Meter</a:t>
            </a:r>
            <a:endParaRPr b="1" sz="1200">
              <a:solidFill>
                <a:srgbClr val="24292E"/>
              </a:solidFill>
              <a:latin typeface="Arial"/>
              <a:ea typeface="Arial"/>
              <a:cs typeface="Arial"/>
              <a:sym typeface="Arial"/>
            </a:endParaRPr>
          </a:p>
          <a:p>
            <a:pPr indent="-304800" lvl="1" marL="914400" rtl="0" algn="l">
              <a:spcBef>
                <a:spcPts val="1200"/>
              </a:spcBef>
              <a:spcAft>
                <a:spcPts val="0"/>
              </a:spcAft>
              <a:buClr>
                <a:srgbClr val="24292E"/>
              </a:buClr>
              <a:buSzPts val="1200"/>
              <a:buFont typeface="Arial"/>
              <a:buChar char="○"/>
            </a:pPr>
            <a:r>
              <a:rPr b="1" lang="en-GB" sz="1200">
                <a:solidFill>
                  <a:srgbClr val="24292E"/>
                </a:solidFill>
                <a:latin typeface="Arial"/>
                <a:ea typeface="Arial"/>
                <a:cs typeface="Arial"/>
                <a:sym typeface="Arial"/>
              </a:rPr>
              <a:t>Complete Voltage Matrix:</a:t>
            </a:r>
            <a:r>
              <a:rPr lang="en-GB" sz="1200">
                <a:solidFill>
                  <a:srgbClr val="24292E"/>
                </a:solidFill>
                <a:latin typeface="Arial"/>
                <a:ea typeface="Arial"/>
                <a:cs typeface="Arial"/>
                <a:sym typeface="Arial"/>
              </a:rPr>
              <a:t> Phase-to-neutral (V_{RN}, V_{YN}, V_{BN}) and phase-to-phase (V_{RY}, V_{YB}, V_{BR}).</a:t>
            </a:r>
            <a:endParaRPr sz="1200">
              <a:solidFill>
                <a:srgbClr val="24292E"/>
              </a:solidFill>
              <a:latin typeface="Arial"/>
              <a:ea typeface="Arial"/>
              <a:cs typeface="Arial"/>
              <a:sym typeface="Arial"/>
            </a:endParaRPr>
          </a:p>
          <a:p>
            <a:pPr indent="-304800" lvl="1" marL="914400" rtl="0" algn="l">
              <a:spcBef>
                <a:spcPts val="0"/>
              </a:spcBef>
              <a:spcAft>
                <a:spcPts val="0"/>
              </a:spcAft>
              <a:buClr>
                <a:srgbClr val="24292E"/>
              </a:buClr>
              <a:buSzPts val="1200"/>
              <a:buFont typeface="Arial"/>
              <a:buChar char="○"/>
            </a:pPr>
            <a:r>
              <a:rPr b="1" lang="en-GB" sz="1200">
                <a:solidFill>
                  <a:srgbClr val="24292E"/>
                </a:solidFill>
                <a:latin typeface="Arial"/>
                <a:ea typeface="Arial"/>
                <a:cs typeface="Arial"/>
                <a:sym typeface="Arial"/>
              </a:rPr>
              <a:t>Detailed Currents:</a:t>
            </a:r>
            <a:r>
              <a:rPr lang="en-GB" sz="1200">
                <a:solidFill>
                  <a:srgbClr val="24292E"/>
                </a:solidFill>
                <a:latin typeface="Arial"/>
                <a:ea typeface="Arial"/>
                <a:cs typeface="Arial"/>
                <a:sym typeface="Arial"/>
              </a:rPr>
              <a:t> Load, active, reactive, and neutral (I_N) line currents.</a:t>
            </a:r>
            <a:endParaRPr sz="1200">
              <a:solidFill>
                <a:srgbClr val="24292E"/>
              </a:solidFill>
              <a:latin typeface="Arial"/>
              <a:ea typeface="Arial"/>
              <a:cs typeface="Arial"/>
              <a:sym typeface="Arial"/>
            </a:endParaRPr>
          </a:p>
          <a:p>
            <a:pPr indent="-304800" lvl="1" marL="914400" rtl="0" algn="l">
              <a:spcBef>
                <a:spcPts val="0"/>
              </a:spcBef>
              <a:spcAft>
                <a:spcPts val="0"/>
              </a:spcAft>
              <a:buClr>
                <a:srgbClr val="24292E"/>
              </a:buClr>
              <a:buSzPts val="1200"/>
              <a:buFont typeface="Arial"/>
              <a:buChar char="○"/>
            </a:pPr>
            <a:r>
              <a:rPr b="1" lang="en-GB" sz="1200">
                <a:solidFill>
                  <a:srgbClr val="24292E"/>
                </a:solidFill>
                <a:latin typeface="Arial"/>
                <a:ea typeface="Arial"/>
                <a:cs typeface="Arial"/>
                <a:sym typeface="Arial"/>
              </a:rPr>
              <a:t>Power &amp; Quality Analytics:</a:t>
            </a:r>
            <a:r>
              <a:rPr lang="en-GB" sz="1200">
                <a:solidFill>
                  <a:srgbClr val="24292E"/>
                </a:solidFill>
                <a:latin typeface="Arial"/>
                <a:ea typeface="Arial"/>
                <a:cs typeface="Arial"/>
                <a:sym typeface="Arial"/>
              </a:rPr>
              <a:t> Active, reactive, and apparent power per phase; 4-quadrant PF; phase angles.</a:t>
            </a:r>
            <a:endParaRPr sz="1200">
              <a:solidFill>
                <a:srgbClr val="24292E"/>
              </a:solidFill>
              <a:latin typeface="Arial"/>
              <a:ea typeface="Arial"/>
              <a:cs typeface="Arial"/>
              <a:sym typeface="Arial"/>
            </a:endParaRPr>
          </a:p>
          <a:p>
            <a:pPr indent="-304800" lvl="1" marL="914400" rtl="0" algn="l">
              <a:spcBef>
                <a:spcPts val="0"/>
              </a:spcBef>
              <a:spcAft>
                <a:spcPts val="0"/>
              </a:spcAft>
              <a:buClr>
                <a:srgbClr val="24292E"/>
              </a:buClr>
              <a:buSzPts val="1200"/>
              <a:buFont typeface="Arial"/>
              <a:buChar char="○"/>
            </a:pPr>
            <a:r>
              <a:rPr b="1" lang="en-GB" sz="1200">
                <a:solidFill>
                  <a:srgbClr val="24292E"/>
                </a:solidFill>
                <a:latin typeface="Arial"/>
                <a:ea typeface="Arial"/>
                <a:cs typeface="Arial"/>
                <a:sym typeface="Arial"/>
              </a:rPr>
              <a:t>Bidirectional Energy:</a:t>
            </a:r>
            <a:r>
              <a:rPr lang="en-GB" sz="1200">
                <a:solidFill>
                  <a:srgbClr val="24292E"/>
                </a:solidFill>
                <a:latin typeface="Arial"/>
                <a:ea typeface="Arial"/>
                <a:cs typeface="Arial"/>
                <a:sym typeface="Arial"/>
              </a:rPr>
              <a:t> Grid frequency, Total Energy Import (TEI), and Export (TEE).</a:t>
            </a:r>
            <a:endParaRPr sz="1200">
              <a:solidFill>
                <a:srgbClr val="24292E"/>
              </a:solidFill>
              <a:latin typeface="Arial"/>
              <a:ea typeface="Arial"/>
              <a:cs typeface="Arial"/>
              <a:sym typeface="Arial"/>
            </a:endParaRPr>
          </a:p>
          <a:p>
            <a:pPr indent="0" lvl="0" marL="0" rtl="0" algn="l">
              <a:spcBef>
                <a:spcPts val="1200"/>
              </a:spcBef>
              <a:spcAft>
                <a:spcPts val="1200"/>
              </a:spcAft>
              <a:buNone/>
            </a:pPr>
            <a:r>
              <a:t/>
            </a:r>
            <a:endParaRPr sz="1200">
              <a:solidFill>
                <a:srgbClr val="24292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11 sensor nodes feed 58 input features</a:t>
            </a:r>
            <a:endParaRPr/>
          </a:p>
        </p:txBody>
      </p:sp>
      <p:sp>
        <p:nvSpPr>
          <p:cNvPr id="132" name="Google Shape;132;p20"/>
          <p:cNvSpPr txBox="1"/>
          <p:nvPr>
            <p:ph idx="1" type="body"/>
          </p:nvPr>
        </p:nvSpPr>
        <p:spPr>
          <a:xfrm>
            <a:off x="729450" y="1751600"/>
            <a:ext cx="7688700" cy="311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200" b="1">
                <a:solidFill>
                  <a:srgbClr val="24292E"/>
                </a:solidFill>
                <a:latin typeface="Arial"/>
                <a:ea typeface="Arial"/>
                <a:cs typeface="Arial"/>
                <a:sym typeface="Arial"/>
              </a:rPr>
              <a:t>The nodes</a:t>
            </a:r>
            <a:endParaRPr lang="en-GB" sz="1200">
              <a:solidFill>
                <a:srgbClr val="24292E"/>
              </a:solidFill>
              <a:latin typeface="Arial"/>
              <a:ea typeface="Arial"/>
              <a:cs typeface="Arial"/>
              <a:sym typeface="Arial"/>
            </a:endParaRPr>
          </a:p>
          <a:p>
            <a:pPr indent="-304800" lvl="0" marL="457200" rtl="0" algn="l">
              <a:spcBef>
                <a:spcPts val="500"/>
              </a:spcBef>
              <a:spcAft>
                <a:spcPts val="0"/>
              </a:spcAft>
              <a:buClr>
                <a:srgbClr val="24292E"/>
              </a:buClr>
              <a:buSzPts val="1200"/>
              <a:buFont typeface="Arial"/>
              <a:buChar char="-"/>
            </a:pPr>
            <a:r>
              <a:rPr lang="en-GB" sz="1200" b="1">
                <a:solidFill>
                  <a:srgbClr val="24292E"/>
                </a:solidFill>
                <a:latin typeface="Arial"/>
                <a:ea typeface="Arial"/>
                <a:cs typeface="Arial"/>
                <a:sym typeface="Arial"/>
              </a:rPr>
              <a:t>6 solar: </a:t>
            </a:r>
            <a:r>
              <a:rPr lang="en-GB" sz="1200">
                <a:solidFill>
                  <a:srgbClr val="24292E"/>
                </a:solidFill>
                <a:latin typeface="Arial"/>
                <a:ea typeface="Arial"/>
                <a:cs typeface="Arial"/>
                <a:sym typeface="Arial"/>
              </a:rPr>
              <a:t>three plants and three inverters</a:t>
            </a:r>
            <a:endParaRPr lang="en-GB" sz="1200">
              <a:solidFill>
                <a:srgbClr val="24292E"/>
              </a:solidFill>
              <a:latin typeface="Arial"/>
              <a:ea typeface="Arial"/>
              <a:cs typeface="Arial"/>
              <a:sym typeface="Arial"/>
            </a:endParaRPr>
          </a:p>
          <a:p>
            <a:pPr indent="-304800" lvl="0" marL="457200" rtl="0" algn="l">
              <a:spcBef>
                <a:spcPts val="500"/>
              </a:spcBef>
              <a:spcAft>
                <a:spcPts val="0"/>
              </a:spcAft>
              <a:buClr>
                <a:srgbClr val="24292E"/>
              </a:buClr>
              <a:buSzPts val="1200"/>
              <a:buFont typeface="Arial"/>
              <a:buChar char="-"/>
            </a:pPr>
            <a:r>
              <a:rPr lang="en-GB" sz="1200" b="1">
                <a:solidFill>
                  <a:srgbClr val="24292E"/>
                </a:solidFill>
                <a:latin typeface="Arial"/>
                <a:ea typeface="Arial"/>
                <a:cs typeface="Arial"/>
                <a:sym typeface="Arial"/>
              </a:rPr>
              <a:t>2 grid: </a:t>
            </a:r>
            <a:r>
              <a:rPr lang="en-GB" sz="1200">
                <a:solidFill>
                  <a:srgbClr val="24292E"/>
                </a:solidFill>
                <a:latin typeface="Arial"/>
                <a:ea typeface="Arial"/>
                <a:cs typeface="Arial"/>
                <a:sym typeface="Arial"/>
              </a:rPr>
              <a:t>the substation and the grid incomer</a:t>
            </a:r>
            <a:endParaRPr lang="en-GB" sz="1200">
              <a:solidFill>
                <a:srgbClr val="24292E"/>
              </a:solidFill>
              <a:latin typeface="Arial"/>
              <a:ea typeface="Arial"/>
              <a:cs typeface="Arial"/>
              <a:sym typeface="Arial"/>
            </a:endParaRPr>
          </a:p>
          <a:p>
            <a:pPr indent="-304800" lvl="0" marL="457200" rtl="0" algn="l">
              <a:spcBef>
                <a:spcPts val="500"/>
              </a:spcBef>
              <a:spcAft>
                <a:spcPts val="0"/>
              </a:spcAft>
              <a:buClr>
                <a:srgbClr val="24292E"/>
              </a:buClr>
              <a:buSzPts val="1200"/>
              <a:buFont typeface="Arial"/>
              <a:buChar char="-"/>
            </a:pPr>
            <a:r>
              <a:rPr lang="en-GB" sz="1200" b="1">
                <a:solidFill>
                  <a:srgbClr val="24292E"/>
                </a:solidFill>
                <a:latin typeface="Arial"/>
                <a:ea typeface="Arial"/>
                <a:cs typeface="Arial"/>
                <a:sym typeface="Arial"/>
              </a:rPr>
              <a:t>3 room meters: </a:t>
            </a:r>
            <a:r>
              <a:rPr lang="en-GB" sz="1200">
                <a:solidFill>
                  <a:srgbClr val="24292E"/>
                </a:solidFill>
                <a:latin typeface="Arial"/>
                <a:ea typeface="Arial"/>
                <a:cs typeface="Arial"/>
                <a:sym typeface="Arial"/>
              </a:rPr>
              <a:t>server rooms and sub-meters</a:t>
            </a:r>
            <a:endParaRPr lang="en-GB" sz="1200">
              <a:solidFill>
                <a:srgbClr val="24292E"/>
              </a:solidFill>
              <a:latin typeface="Arial"/>
              <a:ea typeface="Arial"/>
              <a:cs typeface="Arial"/>
              <a:sym typeface="Arial"/>
            </a:endParaRPr>
          </a:p>
          <a:p>
            <a:pPr indent="0" lvl="0" marL="0" rtl="0" algn="l">
              <a:spcBef>
                <a:spcPts val="900"/>
              </a:spcBef>
              <a:spcAft>
                <a:spcPts val="0"/>
              </a:spcAft>
              <a:buNone/>
            </a:pPr>
            <a:r>
              <a:rPr lang="en-GB" sz="1200" b="1">
                <a:solidFill>
                  <a:srgbClr val="24292E"/>
                </a:solidFill>
                <a:latin typeface="Arial"/>
                <a:ea typeface="Arial"/>
                <a:cs typeface="Arial"/>
                <a:sym typeface="Arial"/>
              </a:rPr>
              <a:t>The features</a:t>
            </a:r>
            <a:endParaRPr lang="en-GB" sz="1200">
              <a:solidFill>
                <a:srgbClr val="24292E"/>
              </a:solidFill>
              <a:latin typeface="Arial"/>
              <a:ea typeface="Arial"/>
              <a:cs typeface="Arial"/>
              <a:sym typeface="Arial"/>
            </a:endParaRPr>
          </a:p>
          <a:p>
            <a:pPr indent="-304800" lvl="0" marL="457200" rtl="0" algn="l">
              <a:spcBef>
                <a:spcPts val="500"/>
              </a:spcBef>
              <a:spcAft>
                <a:spcPts val="0"/>
              </a:spcAft>
              <a:buClr>
                <a:srgbClr val="24292E"/>
              </a:buClr>
              <a:buSzPts val="1200"/>
              <a:buFont typeface="Arial"/>
              <a:buChar char="-"/>
            </a:pPr>
            <a:r>
              <a:rPr lang="en-GB" sz="1200" b="1">
                <a:solidFill>
                  <a:srgbClr val="24292E"/>
                </a:solidFill>
                <a:latin typeface="Arial"/>
                <a:ea typeface="Arial"/>
                <a:cs typeface="Arial"/>
                <a:sym typeface="Arial"/>
              </a:rPr>
              <a:t>58 inputs: </a:t>
            </a:r>
            <a:r>
              <a:rPr lang="en-GB" sz="1200">
                <a:solidFill>
                  <a:srgbClr val="24292E"/>
                </a:solidFill>
                <a:latin typeface="Arial"/>
                <a:ea typeface="Arial"/>
                <a:cs typeface="Arial"/>
                <a:sym typeface="Arial"/>
              </a:rPr>
              <a:t>41 electrical readings + 11 “was this value filled in?” flags + 6 time-of-day / week / year signals</a:t>
            </a:r>
            <a:endParaRPr lang="en-GB" sz="1200">
              <a:solidFill>
                <a:srgbClr val="24292E"/>
              </a:solidFill>
              <a:latin typeface="Arial"/>
              <a:ea typeface="Arial"/>
              <a:cs typeface="Arial"/>
              <a:sym typeface="Arial"/>
            </a:endParaRPr>
          </a:p>
          <a:p>
            <a:pPr indent="-304800" lvl="0" marL="457200" rtl="0" algn="l">
              <a:spcBef>
                <a:spcPts val="500"/>
              </a:spcBef>
              <a:spcAft>
                <a:spcPts val="0"/>
              </a:spcAft>
              <a:buClr>
                <a:srgbClr val="24292E"/>
              </a:buClr>
              <a:buSzPts val="1200"/>
              <a:buFont typeface="Arial"/>
              <a:buChar char="-"/>
            </a:pPr>
            <a:r>
              <a:rPr lang="en-GB" sz="1200" b="1">
                <a:solidFill>
                  <a:srgbClr val="24292E"/>
                </a:solidFill>
                <a:latin typeface="Arial"/>
                <a:ea typeface="Arial"/>
                <a:cs typeface="Arial"/>
                <a:sym typeface="Arial"/>
              </a:rPr>
              <a:t>Each model reads the last 24 hours: </a:t>
            </a:r>
            <a:r>
              <a:rPr lang="en-GB" sz="1200">
                <a:solidFill>
                  <a:srgbClr val="24292E"/>
                </a:solidFill>
                <a:latin typeface="Arial"/>
                <a:ea typeface="Arial"/>
                <a:cs typeface="Arial"/>
                <a:sym typeface="Arial"/>
              </a:rPr>
              <a:t>96 readings, 15 minutes apart</a:t>
            </a:r>
            <a:endParaRPr lang="en-GB" sz="1200">
              <a:solidFill>
                <a:srgbClr val="24292E"/>
              </a:solidFill>
              <a:latin typeface="Arial"/>
              <a:ea typeface="Arial"/>
              <a:cs typeface="Arial"/>
              <a:sym typeface="Arial"/>
            </a:endParaRPr>
          </a:p>
          <a:p>
            <a:pPr indent="-304800" lvl="0" marL="457200" rtl="0" algn="l">
              <a:spcBef>
                <a:spcPts val="500"/>
              </a:spcBef>
              <a:spcAft>
                <a:spcPts val="0"/>
              </a:spcAft>
              <a:buClr>
                <a:srgbClr val="24292E"/>
              </a:buClr>
              <a:buSzPts val="1200"/>
              <a:buFont typeface="Arial"/>
              <a:buChar char="-"/>
            </a:pPr>
            <a:r>
              <a:rPr lang="en-GB" sz="1200" b="1">
                <a:solidFill>
                  <a:srgbClr val="24292E"/>
                </a:solidFill>
                <a:latin typeface="Arial"/>
                <a:ea typeface="Arial"/>
                <a:cs typeface="Arial"/>
                <a:sym typeface="Arial"/>
              </a:rPr>
              <a:t>Split in time order, 70 / 15 / 15: </a:t>
            </a:r>
            <a:r>
              <a:rPr lang="en-GB" sz="1200">
                <a:solidFill>
                  <a:srgbClr val="24292E"/>
                </a:solidFill>
                <a:latin typeface="Arial"/>
                <a:ea typeface="Arial"/>
                <a:cs typeface="Arial"/>
                <a:sym typeface="Arial"/>
              </a:rPr>
              <a:t>the test period is 10 Nov – 31 Dec 2025</a:t>
            </a:r>
            <a:endParaRPr lang="en-GB" sz="1200">
              <a:solidFill>
                <a:srgbClr val="24292E"/>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727650" y="589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Models</a:t>
            </a:r>
            <a:endParaRPr/>
          </a:p>
        </p:txBody>
      </p:sp>
      <p:graphicFrame>
        <p:nvGraphicFramePr>
          <p:cNvPr id="138" name="Google Shape;138;p21"/>
          <p:cNvGraphicFramePr/>
          <p:nvPr/>
        </p:nvGraphicFramePr>
        <p:xfrm>
          <a:off x="304800" y="1124850"/>
          <a:ext cx="3000000" cy="3000000"/>
        </p:xfrm>
        <a:graphic>
          <a:graphicData uri="http://schemas.openxmlformats.org/drawingml/2006/table">
            <a:tbl>
              <a:tblPr>
                <a:solidFill>
                  <a:srgbClr val="FFFFFF"/>
                </a:solidFill>
                <a:tableStyleId>{6FE8ECCA-3AE9-4C4A-B1EA-EB0F8E1248D3}</a:tableStyleId>
              </a:tblPr>
              <a:tblGrid>
                <a:gridCol w="342900"/>
                <a:gridCol w="1162050"/>
                <a:gridCol w="7029450"/>
              </a:tblGrid>
              <a:tr h="333375">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Model</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How it works (plain language)</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552450">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1</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Persistence</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"It will be the same as right now." Predicts </a:t>
                      </a:r>
                      <a:r>
                        <a:rPr lang="en-GB" sz="1000">
                          <a:solidFill>
                            <a:srgbClr val="24292E"/>
                          </a:solidFill>
                          <a:highlight>
                            <a:srgbClr val="FFFFFF"/>
                          </a:highlight>
                          <a:latin typeface="Courier New"/>
                          <a:ea typeface="Courier New"/>
                          <a:cs typeface="Courier New"/>
                          <a:sym typeface="Courier New"/>
                        </a:rPr>
                        <a:t>y(T) = y(now)</a:t>
                      </a:r>
                      <a:r>
                        <a:rPr lang="en-GB" sz="1200">
                          <a:solidFill>
                            <a:srgbClr val="24292E"/>
                          </a:solidFill>
                          <a:highlight>
                            <a:srgbClr val="FFFFFF"/>
                          </a:highlight>
                        </a:rPr>
                        <a:t>. Very hard to beat 15 minutes ahead, because power changes slowly.</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552450">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2</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Same time yesterday</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Predicts </a:t>
                      </a:r>
                      <a:r>
                        <a:rPr lang="en-GB" sz="1000">
                          <a:solidFill>
                            <a:srgbClr val="24292E"/>
                          </a:solidFill>
                          <a:highlight>
                            <a:srgbClr val="FFFFFF"/>
                          </a:highlight>
                          <a:latin typeface="Courier New"/>
                          <a:ea typeface="Courier New"/>
                          <a:cs typeface="Courier New"/>
                          <a:sym typeface="Courier New"/>
                        </a:rPr>
                        <a:t>y(T) = y(T - 24 h)</a:t>
                      </a:r>
                      <a:r>
                        <a:rPr lang="en-GB" sz="1200">
                          <a:solidFill>
                            <a:srgbClr val="24292E"/>
                          </a:solidFill>
                          <a:highlight>
                            <a:srgbClr val="FFFFFF"/>
                          </a:highlight>
                        </a:rPr>
                        <a:t>. Captures the daily cycle. For solar 24 h ahead this is the same as persistence.</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542925">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3</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Same time last week</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Predicts </a:t>
                      </a:r>
                      <a:r>
                        <a:rPr lang="en-GB" sz="1000">
                          <a:solidFill>
                            <a:srgbClr val="24292E"/>
                          </a:solidFill>
                          <a:highlight>
                            <a:srgbClr val="FFFFFF"/>
                          </a:highlight>
                          <a:latin typeface="Courier New"/>
                          <a:ea typeface="Courier New"/>
                          <a:cs typeface="Courier New"/>
                          <a:sym typeface="Courier New"/>
                        </a:rPr>
                        <a:t>y(T) = y(T - 7 days)</a:t>
                      </a:r>
                      <a:r>
                        <a:rPr lang="en-GB" sz="1200">
                          <a:solidFill>
                            <a:srgbClr val="24292E"/>
                          </a:solidFill>
                          <a:highlight>
                            <a:srgbClr val="FFFFFF"/>
                          </a:highlight>
                        </a:rPr>
                        <a:t>. Captures the weekly cycle (weekday vs weekend).</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752475">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4</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Ridge regression</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A straight-line (linear) model: the forecast is a weighted sum of recent values, yesterday's and last week's values and the calendar features. "Ridge" adds a penalty on large weights (alpha = 10) so it does not overfit. Inputs are standardised and missing values filled with the median.</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graphicFrame>
        <p:nvGraphicFramePr>
          <p:cNvPr id="143" name="Google Shape;143;p22"/>
          <p:cNvGraphicFramePr/>
          <p:nvPr/>
        </p:nvGraphicFramePr>
        <p:xfrm>
          <a:off x="152400" y="152400"/>
          <a:ext cx="3000000" cy="3000000"/>
        </p:xfrm>
        <a:graphic>
          <a:graphicData uri="http://schemas.openxmlformats.org/drawingml/2006/table">
            <a:tbl>
              <a:tblPr>
                <a:solidFill>
                  <a:srgbClr val="FFFFFF"/>
                </a:solidFill>
                <a:tableStyleId>{6FE8ECCA-3AE9-4C4A-B1EA-EB0F8E1248D3}</a:tableStyleId>
              </a:tblPr>
              <a:tblGrid>
                <a:gridCol w="342900"/>
                <a:gridCol w="1162050"/>
                <a:gridCol w="7029450"/>
              </a:tblGrid>
              <a:tr h="1171575">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5</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LightGBM</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Gradient-boosted decision trees: hundreds of small trees, each one correcting the mistakes of the ones before it. It can capture non-linear rules like "if it is 2 pm on a weekday and yesterday was high, expect high". It handles missing values directly. We used up to 800 trees, learning rate 0.05, 31 leaves per tree, and stopped early when the validation error stopped improving. Trained to minimise absolute error (which matches the WAPE score).</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962025">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6</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LSTM</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A neural network for sequences (Long Short-Term Memory). It reads the last 24 hours (96 steps) one step at a time, keeps an internal "memory", and at the end produces forecasts for all three horizons at once. One layer, 64 units, about 25,000 parameters. Trained with an absolute-error loss, AdamW optimiser, up to 20 epochs with early stopping. Missing values are set to 0 with a "was missing" flag.</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1800"/>
              </a:spcBef>
              <a:spcAft>
                <a:spcPts val="1200"/>
              </a:spcAft>
              <a:buNone/>
            </a:pPr>
            <a:r>
              <a:rPr lang="en-GB"/>
              <a:t>Forecasting Results</a:t>
            </a:r>
            <a:endParaRPr/>
          </a:p>
        </p:txBody>
      </p:sp>
      <p:graphicFrame>
        <p:nvGraphicFramePr>
          <p:cNvPr id="149" name="Google Shape;149;p23"/>
          <p:cNvGraphicFramePr/>
          <p:nvPr/>
        </p:nvGraphicFramePr>
        <p:xfrm>
          <a:off x="729450" y="2378400"/>
          <a:ext cx="3000000" cy="3000000"/>
        </p:xfrm>
        <a:graphic>
          <a:graphicData uri="http://schemas.openxmlformats.org/drawingml/2006/table">
            <a:tbl>
              <a:tblPr>
                <a:solidFill>
                  <a:srgbClr val="FFFFFF"/>
                </a:solidFill>
                <a:tableStyleId>{6FE8ECCA-3AE9-4C4A-B1EA-EB0F8E1248D3}</a:tableStyleId>
              </a:tblPr>
              <a:tblGrid>
                <a:gridCol w="1553675"/>
                <a:gridCol w="1233800"/>
                <a:gridCol w="1096700"/>
                <a:gridCol w="1119550"/>
                <a:gridCol w="788250"/>
                <a:gridCol w="1130975"/>
                <a:gridCol w="765425"/>
              </a:tblGrid>
              <a:tr h="692200">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Horizon</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Persistence</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Yesterday</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Last week</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Ridge</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LightGBM</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LSTM</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480675">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15 min ahead</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0.163</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0.353</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0.416</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0.186</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0.135</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0.161</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480675">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1 hour ahead</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0.354</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0.353</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0.416</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0.309</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0.219</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0.239</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692200">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24 hours ahead</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0.353</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0.353</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0.417</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0.391</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0.297</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lang="en-GB" sz="1200">
                          <a:solidFill>
                            <a:srgbClr val="24292E"/>
                          </a:solidFill>
                          <a:highlight>
                            <a:srgbClr val="FFFFFF"/>
                          </a:highlight>
                        </a:rPr>
                        <a:t>0.303</a:t>
                      </a:r>
                      <a:endParaRPr sz="12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bl>
          </a:graphicData>
        </a:graphic>
      </p:graphicFrame>
      <p:sp>
        <p:nvSpPr>
          <p:cNvPr id="150" name="Google Shape;150;p23"/>
          <p:cNvSpPr txBox="1"/>
          <p:nvPr/>
        </p:nvSpPr>
        <p:spPr>
          <a:xfrm>
            <a:off x="4652400" y="1318650"/>
            <a:ext cx="3000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1200">
                <a:solidFill>
                  <a:srgbClr val="24292E"/>
                </a:solidFill>
                <a:highlight>
                  <a:schemeClr val="lt1"/>
                </a:highlight>
              </a:rPr>
              <a:t>Mean WAPE over 10 nodes (</a:t>
            </a:r>
            <a:r>
              <a:rPr lang="en-GB" sz="1000">
                <a:solidFill>
                  <a:srgbClr val="24292E"/>
                </a:solidFill>
                <a:highlight>
                  <a:schemeClr val="lt1"/>
                </a:highlight>
                <a:latin typeface="Courier New"/>
                <a:ea typeface="Courier New"/>
                <a:cs typeface="Courier New"/>
                <a:sym typeface="Courier New"/>
              </a:rPr>
              <a:t>SL-NI01-00</a:t>
            </a:r>
            <a:r>
              <a:rPr lang="en-GB" sz="1200">
                <a:solidFill>
                  <a:srgbClr val="24292E"/>
                </a:solidFill>
                <a:highlight>
                  <a:schemeClr val="lt1"/>
                </a:highlight>
              </a:rPr>
              <a:t> excluded because of poor data quality), Nov-Dec 2025. Lower is better.</a:t>
            </a:r>
            <a:endParaRPr sz="1200">
              <a:solidFill>
                <a:srgbClr val="24292E"/>
              </a:solidFill>
              <a:highlight>
                <a:schemeClr val="lt1"/>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idx="1" type="body"/>
          </p:nvPr>
        </p:nvSpPr>
        <p:spPr>
          <a:xfrm>
            <a:off x="729325" y="1158150"/>
            <a:ext cx="3774300" cy="3810000"/>
          </a:xfrm>
          <a:prstGeom prst="rect">
            <a:avLst/>
          </a:prstGeom>
        </p:spPr>
        <p:txBody>
          <a:bodyPr anchorCtr="0" anchor="t" bIns="91425" lIns="91425" spcFirstLastPara="1" rIns="91425" wrap="square" tIns="91425">
            <a:normAutofit fontScale="77500"/>
          </a:bodyPr>
          <a:lstStyle/>
          <a:p>
            <a:pPr indent="-287655" lvl="0" marL="457200" rtl="0" algn="l">
              <a:spcBef>
                <a:spcPts val="0"/>
              </a:spcBef>
              <a:spcAft>
                <a:spcPts val="0"/>
              </a:spcAft>
              <a:buClr>
                <a:srgbClr val="24292E"/>
              </a:buClr>
              <a:buSzPct val="100000"/>
              <a:buFont typeface="Arial"/>
              <a:buChar char="●"/>
            </a:pPr>
            <a:r>
              <a:rPr lang="en-GB" sz="1200">
                <a:solidFill>
                  <a:srgbClr val="24292E"/>
                </a:solidFill>
                <a:highlight>
                  <a:srgbClr val="FFFFFF"/>
                </a:highlight>
                <a:latin typeface="Arial"/>
                <a:ea typeface="Arial"/>
                <a:cs typeface="Arial"/>
                <a:sym typeface="Arial"/>
              </a:rPr>
              <a:t>LightGBM has the lowest average error at every horizon, but the margins are modest. At 15 minutes and 24 hours the LSTM is close behind. At 24 hours the LSTM wins at 2 of 10 nodes (</a:t>
            </a:r>
            <a:r>
              <a:rPr lang="en-GB" sz="1000">
                <a:solidFill>
                  <a:srgbClr val="24292E"/>
                </a:solidFill>
                <a:highlight>
                  <a:srgbClr val="FFFFFF"/>
                </a:highlight>
                <a:latin typeface="Courier New"/>
                <a:ea typeface="Courier New"/>
                <a:cs typeface="Courier New"/>
                <a:sym typeface="Courier New"/>
              </a:rPr>
              <a:t>SL-VN95-00</a:t>
            </a:r>
            <a:r>
              <a:rPr lang="en-GB" sz="1200">
                <a:solidFill>
                  <a:srgbClr val="24292E"/>
                </a:solidFill>
                <a:highlight>
                  <a:srgbClr val="FFFFFF"/>
                </a:highlight>
                <a:latin typeface="Arial"/>
                <a:ea typeface="Arial"/>
                <a:cs typeface="Arial"/>
                <a:sym typeface="Arial"/>
              </a:rPr>
              <a:t>, </a:t>
            </a:r>
            <a:r>
              <a:rPr lang="en-GB" sz="1000">
                <a:solidFill>
                  <a:srgbClr val="24292E"/>
                </a:solidFill>
                <a:highlight>
                  <a:srgbClr val="FFFFFF"/>
                </a:highlight>
                <a:latin typeface="Courier New"/>
                <a:ea typeface="Courier New"/>
                <a:cs typeface="Courier New"/>
                <a:sym typeface="Courier New"/>
              </a:rPr>
              <a:t>SR-EM-KH04-02</a:t>
            </a:r>
            <a:r>
              <a:rPr lang="en-GB" sz="1200">
                <a:solidFill>
                  <a:srgbClr val="24292E"/>
                </a:solidFill>
                <a:highlight>
                  <a:srgbClr val="FFFFFF"/>
                </a:highlight>
                <a:latin typeface="Arial"/>
                <a:ea typeface="Arial"/>
                <a:cs typeface="Arial"/>
                <a:sym typeface="Arial"/>
              </a:rPr>
              <a:t>).</a:t>
            </a:r>
            <a:endParaRPr sz="1200">
              <a:solidFill>
                <a:srgbClr val="24292E"/>
              </a:solidFill>
              <a:highlight>
                <a:srgbClr val="FFFFFF"/>
              </a:highlight>
              <a:latin typeface="Arial"/>
              <a:ea typeface="Arial"/>
              <a:cs typeface="Arial"/>
              <a:sym typeface="Arial"/>
            </a:endParaRPr>
          </a:p>
          <a:p>
            <a:pPr indent="-287655" lvl="0" marL="457200" rtl="0" algn="l">
              <a:spcBef>
                <a:spcPts val="0"/>
              </a:spcBef>
              <a:spcAft>
                <a:spcPts val="0"/>
              </a:spcAft>
              <a:buClr>
                <a:srgbClr val="24292E"/>
              </a:buClr>
              <a:buSzPct val="100000"/>
              <a:buFont typeface="Arial"/>
              <a:buChar char="●"/>
            </a:pPr>
            <a:r>
              <a:rPr lang="en-GB" sz="1200">
                <a:solidFill>
                  <a:srgbClr val="24292E"/>
                </a:solidFill>
                <a:highlight>
                  <a:srgbClr val="FFFFFF"/>
                </a:highlight>
                <a:latin typeface="Arial"/>
                <a:ea typeface="Arial"/>
                <a:cs typeface="Arial"/>
                <a:sym typeface="Arial"/>
              </a:rPr>
              <a:t>15 minutes ahead, "same as now" is very hard to beat on the big substation, on </a:t>
            </a:r>
            <a:r>
              <a:rPr lang="en-GB" sz="1000">
                <a:solidFill>
                  <a:srgbClr val="24292E"/>
                </a:solidFill>
                <a:highlight>
                  <a:srgbClr val="FFFFFF"/>
                </a:highlight>
                <a:latin typeface="Courier New"/>
                <a:ea typeface="Courier New"/>
                <a:cs typeface="Courier New"/>
                <a:sym typeface="Courier New"/>
              </a:rPr>
              <a:t>EM-CR-KH95-00</a:t>
            </a:r>
            <a:r>
              <a:rPr lang="en-GB" sz="1200">
                <a:solidFill>
                  <a:srgbClr val="24292E"/>
                </a:solidFill>
                <a:highlight>
                  <a:srgbClr val="FFFFFF"/>
                </a:highlight>
                <a:latin typeface="Arial"/>
                <a:ea typeface="Arial"/>
                <a:cs typeface="Arial"/>
                <a:sym typeface="Arial"/>
              </a:rPr>
              <a:t> and on </a:t>
            </a:r>
            <a:r>
              <a:rPr lang="en-GB" sz="1000">
                <a:solidFill>
                  <a:srgbClr val="24292E"/>
                </a:solidFill>
                <a:highlight>
                  <a:srgbClr val="FFFFFF"/>
                </a:highlight>
                <a:latin typeface="Courier New"/>
                <a:ea typeface="Courier New"/>
                <a:cs typeface="Courier New"/>
                <a:sym typeface="Courier New"/>
              </a:rPr>
              <a:t>SR-EM-KH04-00</a:t>
            </a:r>
            <a:r>
              <a:rPr lang="en-GB" sz="1200">
                <a:solidFill>
                  <a:srgbClr val="24292E"/>
                </a:solidFill>
                <a:highlight>
                  <a:srgbClr val="FFFFFF"/>
                </a:highlight>
                <a:latin typeface="Arial"/>
                <a:ea typeface="Arial"/>
                <a:cs typeface="Arial"/>
                <a:sym typeface="Arial"/>
              </a:rPr>
              <a:t>: persistence is as good or better. </a:t>
            </a:r>
            <a:endParaRPr sz="1200">
              <a:solidFill>
                <a:srgbClr val="24292E"/>
              </a:solidFill>
              <a:highlight>
                <a:srgbClr val="FFFFFF"/>
              </a:highlight>
              <a:latin typeface="Arial"/>
              <a:ea typeface="Arial"/>
              <a:cs typeface="Arial"/>
              <a:sym typeface="Arial"/>
            </a:endParaRPr>
          </a:p>
          <a:p>
            <a:pPr indent="-287655" lvl="0" marL="457200" rtl="0" algn="l">
              <a:spcBef>
                <a:spcPts val="0"/>
              </a:spcBef>
              <a:spcAft>
                <a:spcPts val="0"/>
              </a:spcAft>
              <a:buClr>
                <a:srgbClr val="24292E"/>
              </a:buClr>
              <a:buSzPct val="100000"/>
              <a:buFont typeface="Arial"/>
              <a:buChar char="●"/>
            </a:pPr>
            <a:r>
              <a:rPr lang="en-GB" sz="1200">
                <a:solidFill>
                  <a:srgbClr val="24292E"/>
                </a:solidFill>
                <a:highlight>
                  <a:srgbClr val="FFFFFF"/>
                </a:highlight>
                <a:latin typeface="Arial"/>
                <a:ea typeface="Arial"/>
                <a:cs typeface="Arial"/>
                <a:sym typeface="Arial"/>
              </a:rPr>
              <a:t>Solar 24 hours ahead: "same time yesterday" beats LightGBM at all 5 solar nodes (and wins or ties against every model at 4 of them). Tomorrow's cloud cover is not predictable from past power alone, and we have no weather data. (We tried adding sun-position and neighbouring-node cloud signals in </a:t>
            </a:r>
            <a:r>
              <a:rPr lang="en-GB" sz="1000">
                <a:solidFill>
                  <a:srgbClr val="24292E"/>
                </a:solidFill>
                <a:highlight>
                  <a:srgbClr val="FFFFFF"/>
                </a:highlight>
                <a:latin typeface="Courier New"/>
                <a:ea typeface="Courier New"/>
                <a:cs typeface="Courier New"/>
                <a:sym typeface="Courier New"/>
              </a:rPr>
              <a:t>src/08_pv_clearsky.py</a:t>
            </a:r>
            <a:r>
              <a:rPr lang="en-GB" sz="1200">
                <a:solidFill>
                  <a:srgbClr val="24292E"/>
                </a:solidFill>
                <a:highlight>
                  <a:srgbClr val="FFFFFF"/>
                </a:highlight>
                <a:latin typeface="Arial"/>
                <a:ea typeface="Arial"/>
                <a:cs typeface="Arial"/>
                <a:sym typeface="Arial"/>
              </a:rPr>
              <a:t>. They did not beat "yesterday".)</a:t>
            </a:r>
            <a:endParaRPr sz="1200">
              <a:solidFill>
                <a:srgbClr val="24292E"/>
              </a:solidFill>
              <a:highlight>
                <a:srgbClr val="FFFFFF"/>
              </a:highlight>
              <a:latin typeface="Arial"/>
              <a:ea typeface="Arial"/>
              <a:cs typeface="Arial"/>
              <a:sym typeface="Arial"/>
            </a:endParaRPr>
          </a:p>
          <a:p>
            <a:pPr indent="-287655" lvl="0" marL="457200" rtl="0" algn="l">
              <a:spcBef>
                <a:spcPts val="0"/>
              </a:spcBef>
              <a:spcAft>
                <a:spcPts val="0"/>
              </a:spcAft>
              <a:buClr>
                <a:srgbClr val="24292E"/>
              </a:buClr>
              <a:buSzPct val="100000"/>
              <a:buFont typeface="Arial"/>
              <a:buChar char="●"/>
            </a:pPr>
            <a:r>
              <a:rPr lang="en-GB" sz="1200">
                <a:solidFill>
                  <a:srgbClr val="24292E"/>
                </a:solidFill>
                <a:highlight>
                  <a:srgbClr val="FFFFFF"/>
                </a:highlight>
                <a:latin typeface="Arial"/>
                <a:ea typeface="Arial"/>
                <a:cs typeface="Arial"/>
                <a:sym typeface="Arial"/>
              </a:rPr>
              <a:t>Building loads 24 hours ahead benefit most from models: </a:t>
            </a:r>
            <a:r>
              <a:rPr lang="en-GB" sz="1000">
                <a:solidFill>
                  <a:srgbClr val="24292E"/>
                </a:solidFill>
                <a:highlight>
                  <a:srgbClr val="FFFFFF"/>
                </a:highlight>
                <a:latin typeface="Courier New"/>
                <a:ea typeface="Courier New"/>
                <a:cs typeface="Courier New"/>
                <a:sym typeface="Courier New"/>
              </a:rPr>
              <a:t>SR-EM-KH04-01</a:t>
            </a:r>
            <a:r>
              <a:rPr lang="en-GB" sz="1200">
                <a:solidFill>
                  <a:srgbClr val="24292E"/>
                </a:solidFill>
                <a:highlight>
                  <a:srgbClr val="FFFFFF"/>
                </a:highlight>
                <a:latin typeface="Arial"/>
                <a:ea typeface="Arial"/>
                <a:cs typeface="Arial"/>
                <a:sym typeface="Arial"/>
              </a:rPr>
              <a:t> drops from 0.85 (yesterday) to 0.46, </a:t>
            </a:r>
            <a:r>
              <a:rPr lang="en-GB" sz="1000">
                <a:solidFill>
                  <a:srgbClr val="24292E"/>
                </a:solidFill>
                <a:highlight>
                  <a:srgbClr val="FFFFFF"/>
                </a:highlight>
                <a:latin typeface="Courier New"/>
                <a:ea typeface="Courier New"/>
                <a:cs typeface="Courier New"/>
                <a:sym typeface="Courier New"/>
              </a:rPr>
              <a:t>EM-CR-KH95-00</a:t>
            </a:r>
            <a:r>
              <a:rPr lang="en-GB" sz="1200">
                <a:solidFill>
                  <a:srgbClr val="24292E"/>
                </a:solidFill>
                <a:highlight>
                  <a:srgbClr val="FFFFFF"/>
                </a:highlight>
                <a:latin typeface="Arial"/>
                <a:ea typeface="Arial"/>
                <a:cs typeface="Arial"/>
                <a:sym typeface="Arial"/>
              </a:rPr>
              <a:t> from 0.54 to 0.34, the substation from 0.103 to 0.091.</a:t>
            </a:r>
            <a:endParaRPr sz="1200">
              <a:solidFill>
                <a:srgbClr val="24292E"/>
              </a:solidFill>
              <a:highlight>
                <a:srgbClr val="FFFFFF"/>
              </a:highlight>
              <a:latin typeface="Arial"/>
              <a:ea typeface="Arial"/>
              <a:cs typeface="Arial"/>
              <a:sym typeface="Arial"/>
            </a:endParaRPr>
          </a:p>
          <a:p>
            <a:pPr indent="-287655" lvl="0" marL="457200" rtl="0" algn="l">
              <a:spcBef>
                <a:spcPts val="0"/>
              </a:spcBef>
              <a:spcAft>
                <a:spcPts val="0"/>
              </a:spcAft>
              <a:buClr>
                <a:srgbClr val="24292E"/>
              </a:buClr>
              <a:buSzPct val="100000"/>
              <a:buFont typeface="Arial"/>
              <a:buChar char="●"/>
            </a:pPr>
            <a:r>
              <a:rPr lang="en-GB" sz="1200">
                <a:solidFill>
                  <a:srgbClr val="24292E"/>
                </a:solidFill>
                <a:highlight>
                  <a:srgbClr val="FFFFFF"/>
                </a:highlight>
                <a:latin typeface="Arial"/>
                <a:ea typeface="Arial"/>
                <a:cs typeface="Arial"/>
                <a:sym typeface="Arial"/>
              </a:rPr>
              <a:t>Against the proposal's target ("beat the best naive forecast by at least 10%"): LightGBM meets it at 6 of 11 nodes at 15 minutes, 8 of 11 at 1 hour and 3 of 11 at 24 hours (LSTM: 4, 6 and 2). Details: </a:t>
            </a:r>
            <a:r>
              <a:rPr lang="en-GB" sz="1000">
                <a:solidFill>
                  <a:srgbClr val="24292E"/>
                </a:solidFill>
                <a:highlight>
                  <a:srgbClr val="FFFFFF"/>
                </a:highlight>
                <a:latin typeface="Courier New"/>
                <a:ea typeface="Courier New"/>
                <a:cs typeface="Courier New"/>
                <a:sym typeface="Courier New"/>
              </a:rPr>
              <a:t>results/forecast_h1a.csv</a:t>
            </a:r>
            <a:r>
              <a:rPr lang="en-GB" sz="1200">
                <a:solidFill>
                  <a:srgbClr val="24292E"/>
                </a:solidFill>
                <a:highlight>
                  <a:srgbClr val="FFFFFF"/>
                </a:highlight>
                <a:latin typeface="Arial"/>
                <a:ea typeface="Arial"/>
                <a:cs typeface="Arial"/>
                <a:sym typeface="Arial"/>
              </a:rPr>
              <a:t>.</a:t>
            </a:r>
            <a:endParaRPr/>
          </a:p>
        </p:txBody>
      </p:sp>
      <p:sp>
        <p:nvSpPr>
          <p:cNvPr id="156" name="Google Shape;156;p24"/>
          <p:cNvSpPr txBox="1"/>
          <p:nvPr>
            <p:ph idx="2" type="body"/>
          </p:nvPr>
        </p:nvSpPr>
        <p:spPr>
          <a:xfrm>
            <a:off x="4643600" y="1158150"/>
            <a:ext cx="3774300" cy="37668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sz="1200">
                <a:solidFill>
                  <a:srgbClr val="24292E"/>
                </a:solidFill>
                <a:highlight>
                  <a:srgbClr val="FFFFFF"/>
                </a:highlight>
                <a:latin typeface="Arial"/>
                <a:ea typeface="Arial"/>
                <a:cs typeface="Arial"/>
                <a:sym typeface="Arial"/>
              </a:rPr>
              <a:t>Why the LSTM does not beat LightGBM. We have not proved the reasons, but the likely ones are:</a:t>
            </a:r>
            <a:endParaRPr sz="1200">
              <a:solidFill>
                <a:srgbClr val="24292E"/>
              </a:solidFill>
              <a:highlight>
                <a:srgbClr val="FFFFFF"/>
              </a:highlight>
              <a:latin typeface="Arial"/>
              <a:ea typeface="Arial"/>
              <a:cs typeface="Arial"/>
              <a:sym typeface="Arial"/>
            </a:endParaRPr>
          </a:p>
          <a:p>
            <a:pPr indent="-293370" lvl="0" marL="457200" rtl="0" algn="l">
              <a:spcBef>
                <a:spcPts val="1200"/>
              </a:spcBef>
              <a:spcAft>
                <a:spcPts val="0"/>
              </a:spcAft>
              <a:buClr>
                <a:srgbClr val="24292E"/>
              </a:buClr>
              <a:buSzPct val="100000"/>
              <a:buFont typeface="Arial"/>
              <a:buAutoNum type="arabicPeriod"/>
            </a:pPr>
            <a:r>
              <a:rPr lang="en-GB" sz="1200">
                <a:solidFill>
                  <a:srgbClr val="24292E"/>
                </a:solidFill>
                <a:highlight>
                  <a:srgbClr val="FFFFFF"/>
                </a:highlight>
                <a:latin typeface="Arial"/>
                <a:ea typeface="Arial"/>
                <a:cs typeface="Arial"/>
                <a:sym typeface="Arial"/>
              </a:rPr>
              <a:t>It sees less history: a 24-hour window, versus LightGBM's explicit values from 2 days and a week ago (loads here are strongly weekly). This is a confirmed difference in the setup.</a:t>
            </a:r>
            <a:endParaRPr sz="1200">
              <a:solidFill>
                <a:srgbClr val="24292E"/>
              </a:solidFill>
              <a:highlight>
                <a:srgbClr val="FFFFFF"/>
              </a:highlight>
              <a:latin typeface="Arial"/>
              <a:ea typeface="Arial"/>
              <a:cs typeface="Arial"/>
              <a:sym typeface="Arial"/>
            </a:endParaRPr>
          </a:p>
          <a:p>
            <a:pPr indent="-293370" lvl="0" marL="457200" rtl="0" algn="l">
              <a:spcBef>
                <a:spcPts val="0"/>
              </a:spcBef>
              <a:spcAft>
                <a:spcPts val="0"/>
              </a:spcAft>
              <a:buClr>
                <a:srgbClr val="24292E"/>
              </a:buClr>
              <a:buSzPct val="100000"/>
              <a:buFont typeface="Arial"/>
              <a:buAutoNum type="arabicPeriod"/>
            </a:pPr>
            <a:r>
              <a:rPr lang="en-GB" sz="1200">
                <a:solidFill>
                  <a:srgbClr val="24292E"/>
                </a:solidFill>
                <a:highlight>
                  <a:srgbClr val="FFFFFF"/>
                </a:highlight>
                <a:latin typeface="Arial"/>
                <a:ea typeface="Arial"/>
                <a:cs typeface="Arial"/>
                <a:sym typeface="Arial"/>
              </a:rPr>
              <a:t>It is small, trained once per node (one random seed) on about 8 months of data, so small gaps between it and LightGBM are within run-to-run noise.</a:t>
            </a:r>
            <a:endParaRPr sz="1200">
              <a:solidFill>
                <a:srgbClr val="24292E"/>
              </a:solidFill>
              <a:highlight>
                <a:srgbClr val="FFFFFF"/>
              </a:highlight>
              <a:latin typeface="Arial"/>
              <a:ea typeface="Arial"/>
              <a:cs typeface="Arial"/>
              <a:sym typeface="Arial"/>
            </a:endParaRPr>
          </a:p>
          <a:p>
            <a:pPr indent="-293370" lvl="0" marL="457200" rtl="0" algn="l">
              <a:spcBef>
                <a:spcPts val="0"/>
              </a:spcBef>
              <a:spcAft>
                <a:spcPts val="0"/>
              </a:spcAft>
              <a:buClr>
                <a:srgbClr val="24292E"/>
              </a:buClr>
              <a:buSzPct val="100000"/>
              <a:buFont typeface="Arial"/>
              <a:buAutoNum type="arabicPeriod"/>
            </a:pPr>
            <a:r>
              <a:rPr lang="en-GB" sz="1200">
                <a:solidFill>
                  <a:srgbClr val="24292E"/>
                </a:solidFill>
                <a:highlight>
                  <a:srgbClr val="FFFFFF"/>
                </a:highlight>
                <a:latin typeface="Arial"/>
                <a:ea typeface="Arial"/>
                <a:cs typeface="Arial"/>
                <a:sym typeface="Arial"/>
              </a:rPr>
              <a:t>It has to learn things LightGBM is handed directly, such as "the same time yesterday".</a:t>
            </a:r>
            <a:endParaRPr sz="1200">
              <a:solidFill>
                <a:srgbClr val="24292E"/>
              </a:solidFill>
              <a:highlight>
                <a:srgbClr val="FFFFFF"/>
              </a:highlight>
              <a:latin typeface="Arial"/>
              <a:ea typeface="Arial"/>
              <a:cs typeface="Arial"/>
              <a:sym typeface="Arial"/>
            </a:endParaRPr>
          </a:p>
          <a:p>
            <a:pPr indent="-293370" lvl="0" marL="457200" rtl="0" algn="l">
              <a:spcBef>
                <a:spcPts val="0"/>
              </a:spcBef>
              <a:spcAft>
                <a:spcPts val="0"/>
              </a:spcAft>
              <a:buClr>
                <a:srgbClr val="24292E"/>
              </a:buClr>
              <a:buSzPct val="100000"/>
              <a:buFont typeface="Arial"/>
              <a:buAutoNum type="arabicPeriod"/>
            </a:pPr>
            <a:r>
              <a:rPr lang="en-GB" sz="1200">
                <a:solidFill>
                  <a:srgbClr val="24292E"/>
                </a:solidFill>
                <a:highlight>
                  <a:srgbClr val="FFFFFF"/>
                </a:highlight>
                <a:latin typeface="Arial"/>
                <a:ea typeface="Arial"/>
                <a:cs typeface="Arial"/>
                <a:sym typeface="Arial"/>
              </a:rPr>
              <a:t>The problem is mostly "recent values + time of day + day of week", which suits tree models, and the test months (Nov-Dec) differ from the training months, which trees tolerate better than neural networks. A fair test would add the week-ago value to the LSTM, run several seeds and try a larger network. We have not done this.</a:t>
            </a:r>
            <a:endParaRPr sz="1200">
              <a:solidFill>
                <a:srgbClr val="24292E"/>
              </a:solidFill>
              <a:highlight>
                <a:srgbClr val="FFFFFF"/>
              </a:highlight>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Research Backing</a:t>
            </a:r>
            <a:endParaRPr/>
          </a:p>
        </p:txBody>
      </p:sp>
      <p:sp>
        <p:nvSpPr>
          <p:cNvPr id="162" name="Google Shape;162;p25"/>
          <p:cNvSpPr txBox="1"/>
          <p:nvPr>
            <p:ph idx="1" type="body"/>
          </p:nvPr>
        </p:nvSpPr>
        <p:spPr>
          <a:xfrm>
            <a:off x="729325" y="2078875"/>
            <a:ext cx="3774300" cy="2586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GB" sz="1100" u="sng">
                <a:solidFill>
                  <a:srgbClr val="1155CC"/>
                </a:solidFill>
                <a:latin typeface="Arial"/>
                <a:ea typeface="Arial"/>
                <a:cs typeface="Arial"/>
                <a:sym typeface="Arial"/>
                <a:hlinkClick r:id="rId3">
                  <a:extLst>
                    <a:ext uri="{A12FA001-AC4F-418D-AE19-62706E023703}">
                      <ahyp:hlinkClr val="tx"/>
                    </a:ext>
                  </a:extLst>
                </a:hlinkClick>
              </a:rPr>
              <a:t>https://www.researchgate.net/publication/399567462_Time-Series_Analysis_of_Sensor_Data_for_Smart_Devices</a:t>
            </a:r>
            <a:endParaRPr/>
          </a:p>
          <a:p>
            <a:pPr indent="0" lvl="0" marL="0" rtl="0" algn="l">
              <a:spcBef>
                <a:spcPts val="0"/>
              </a:spcBef>
              <a:spcAft>
                <a:spcPts val="0"/>
              </a:spcAft>
              <a:buNone/>
            </a:pPr>
            <a:br>
              <a:rPr lang="en-GB"/>
            </a:br>
            <a:r>
              <a:rPr lang="en-GB" sz="1100"/>
              <a:t>Demonstrate that LSTMs outperform traditional models (like ARIMA) by naturally capturing the complex non-linearities, non-stationarity, and long-term temporal dependencies inherent in continuous smart device telemetry.</a:t>
            </a:r>
            <a:endParaRPr sz="1100"/>
          </a:p>
          <a:p>
            <a:pPr indent="0" lvl="0" marL="0" rtl="0" algn="l">
              <a:spcBef>
                <a:spcPts val="0"/>
              </a:spcBef>
              <a:spcAft>
                <a:spcPts val="0"/>
              </a:spcAft>
              <a:buNone/>
            </a:pPr>
            <a:br>
              <a:rPr lang="en-GB" sz="1100"/>
            </a:br>
            <a:r>
              <a:rPr lang="en-GB" sz="1100"/>
              <a:t>Unlike standard RNNs limited by vanishing gradients, LSTMs use gated memory cells to retain extended multi-hour historical contexts for accurate future load forecasting.</a:t>
            </a:r>
            <a:endParaRPr sz="1100"/>
          </a:p>
        </p:txBody>
      </p:sp>
      <p:sp>
        <p:nvSpPr>
          <p:cNvPr id="163" name="Google Shape;163;p25"/>
          <p:cNvSpPr txBox="1"/>
          <p:nvPr>
            <p:ph idx="2" type="body"/>
          </p:nvPr>
        </p:nvSpPr>
        <p:spPr>
          <a:xfrm>
            <a:off x="4643600" y="2078875"/>
            <a:ext cx="3774300" cy="258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u="sng">
                <a:solidFill>
                  <a:srgbClr val="1155CC"/>
                </a:solidFill>
                <a:latin typeface="Arial"/>
                <a:ea typeface="Arial"/>
                <a:cs typeface="Arial"/>
                <a:sym typeface="Arial"/>
                <a:hlinkClick r:id="rId4">
                  <a:extLst>
                    <a:ext uri="{A12FA001-AC4F-418D-AE19-62706E023703}">
                      <ahyp:hlinkClr val="tx"/>
                    </a:ext>
                  </a:extLst>
                </a:hlinkClick>
              </a:rPr>
              <a:t>https://link.springer.com/article/10.1007/s00521-023-09398-9</a:t>
            </a:r>
            <a:br>
              <a:rPr lang="en-GB"/>
            </a:br>
            <a:r>
              <a:rPr lang="en-GB"/>
              <a:t>“A predictive analytics framework for sensor data using time series and deep learning techniques”</a:t>
            </a:r>
            <a:br>
              <a:rPr lang="en-GB"/>
            </a:br>
            <a:r>
              <a:rPr lang="en-GB" sz="1100">
                <a:solidFill>
                  <a:srgbClr val="666666"/>
                </a:solidFill>
                <a:latin typeface="Arial"/>
                <a:ea typeface="Arial"/>
                <a:cs typeface="Arial"/>
                <a:sym typeface="Arial"/>
              </a:rPr>
              <a:t>Benchmark studies on IoT sensor analytics confirm that deep sequential architectures significantly reduce error rates compared to classical statistical forecasting on complex sensor streams.</a:t>
            </a:r>
            <a:endParaRPr sz="1100">
              <a:solidFill>
                <a:srgbClr val="666666"/>
              </a:solidFill>
              <a:latin typeface="Arial"/>
              <a:ea typeface="Arial"/>
              <a:cs typeface="Arial"/>
              <a:sym typeface="Arial"/>
            </a:endParaRPr>
          </a:p>
          <a:p>
            <a:pPr indent="0" lvl="0" marL="0" rtl="0" algn="l">
              <a:spcBef>
                <a:spcPts val="0"/>
              </a:spcBef>
              <a:spcAft>
                <a:spcPts val="0"/>
              </a:spcAft>
              <a:buNone/>
            </a:pPr>
            <a:br>
              <a:rPr lang="en-GB" sz="1100">
                <a:solidFill>
                  <a:srgbClr val="666666"/>
                </a:solidFill>
                <a:latin typeface="Arial"/>
                <a:ea typeface="Arial"/>
                <a:cs typeface="Arial"/>
                <a:sym typeface="Arial"/>
              </a:rPr>
            </a:br>
            <a:r>
              <a:rPr lang="en-GB" sz="1100">
                <a:solidFill>
                  <a:srgbClr val="666666"/>
                </a:solidFill>
                <a:latin typeface="Arial"/>
                <a:ea typeface="Arial"/>
                <a:cs typeface="Arial"/>
                <a:sym typeface="Arial"/>
              </a:rPr>
              <a:t>Shows hybrid </a:t>
            </a:r>
            <a:r>
              <a:rPr b="1" lang="en-GB" sz="1100">
                <a:solidFill>
                  <a:srgbClr val="666666"/>
                </a:solidFill>
                <a:latin typeface="Arial"/>
                <a:ea typeface="Arial"/>
                <a:cs typeface="Arial"/>
                <a:sym typeface="Arial"/>
              </a:rPr>
              <a:t>CNN-LSTM / TCN</a:t>
            </a:r>
            <a:r>
              <a:rPr lang="en-GB" sz="1100">
                <a:solidFill>
                  <a:srgbClr val="666666"/>
                </a:solidFill>
                <a:latin typeface="Arial"/>
                <a:ea typeface="Arial"/>
                <a:cs typeface="Arial"/>
                <a:sym typeface="Arial"/>
              </a:rPr>
              <a:t> approaches provide the closest tracking to real sensor dynamics.</a:t>
            </a:r>
            <a:endParaRPr>
              <a:solidFill>
                <a:srgbClr val="666666"/>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question: how close is campus to net-zero?</a:t>
            </a:r>
            <a:endParaRPr/>
          </a:p>
        </p:txBody>
      </p:sp>
      <p:sp>
        <p:nvSpPr>
          <p:cNvPr id="175" name="Google Shape;175;p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200"/>
              <a:buChar char="-"/>
            </a:pPr>
            <a:r>
              <a:rPr lang="en-GB" sz="1200" b="1">
                <a:solidFill>
                  <a:srgbClr val="000000"/>
                </a:solidFill>
                <a:latin typeface="Arial"/>
                <a:ea typeface="Arial"/>
                <a:cs typeface="Arial"/>
                <a:sym typeface="Arial"/>
              </a:rPr>
              <a:t>Net deficit = Demand − Solar. </a:t>
            </a:r>
            <a:r>
              <a:rPr lang="en-GB" sz="1200">
                <a:solidFill>
                  <a:srgbClr val="000000"/>
                </a:solidFill>
                <a:latin typeface="Arial"/>
                <a:ea typeface="Arial"/>
                <a:cs typeface="Arial"/>
                <a:sym typeface="Arial"/>
              </a:rPr>
              <a:t>Positive: we import from the grid. Negative: surplus to store or export.</a:t>
            </a:r>
            <a:endParaRPr lang="en-GB" sz="1200">
              <a:solidFill>
                <a:srgbClr val="000000"/>
              </a:solidFill>
              <a:latin typeface="Arial"/>
              <a:ea typeface="Arial"/>
              <a:cs typeface="Arial"/>
              <a:sym typeface="Arial"/>
            </a:endParaRPr>
          </a:p>
          <a:p>
            <a:pPr indent="-311150" lvl="0" marL="457200" rtl="0" algn="l">
              <a:spcBef>
                <a:spcPts val="500"/>
              </a:spcBef>
              <a:spcAft>
                <a:spcPts val="0"/>
              </a:spcAft>
              <a:buSzPts val="1200"/>
              <a:buChar char="-"/>
            </a:pPr>
            <a:r>
              <a:rPr lang="en-GB" sz="1200" b="1">
                <a:solidFill>
                  <a:srgbClr val="000000"/>
                </a:solidFill>
                <a:latin typeface="Arial"/>
                <a:ea typeface="Arial"/>
                <a:cs typeface="Arial"/>
                <a:sym typeface="Arial"/>
              </a:rPr>
              <a:t>Self-sufficiency = Solar ÷ Demand × 100 %</a:t>
            </a:r>
            <a:endParaRPr lang="en-GB" sz="1200">
              <a:solidFill>
                <a:srgbClr val="000000"/>
              </a:solidFill>
              <a:latin typeface="Arial"/>
              <a:ea typeface="Arial"/>
              <a:cs typeface="Arial"/>
              <a:sym typeface="Arial"/>
            </a:endParaRPr>
          </a:p>
          <a:p>
            <a:pPr indent="-311150" lvl="0" marL="457200" rtl="0" algn="l">
              <a:spcBef>
                <a:spcPts val="500"/>
              </a:spcBef>
              <a:spcAft>
                <a:spcPts val="0"/>
              </a:spcAft>
              <a:buSzPts val="1200"/>
              <a:buChar char="-"/>
            </a:pPr>
            <a:r>
              <a:rPr lang="en-GB" sz="1200" b="1">
                <a:solidFill>
                  <a:srgbClr val="000000"/>
                </a:solidFill>
                <a:latin typeface="Arial"/>
                <a:ea typeface="Arial"/>
                <a:cs typeface="Arial"/>
                <a:sym typeface="Arial"/>
              </a:rPr>
              <a:t>1 hour ahead: </a:t>
            </a:r>
            <a:r>
              <a:rPr lang="en-GB" sz="1200">
                <a:solidFill>
                  <a:srgbClr val="000000"/>
                </a:solidFill>
                <a:latin typeface="Arial"/>
                <a:ea typeface="Arial"/>
                <a:cs typeface="Arial"/>
                <a:sym typeface="Arial"/>
              </a:rPr>
              <a:t>real-time decisions (battery ramping, cloud dips) and checking that sensors are telling the truth.</a:t>
            </a:r>
            <a:endParaRPr lang="en-GB" sz="1200">
              <a:solidFill>
                <a:srgbClr val="000000"/>
              </a:solidFill>
              <a:latin typeface="Arial"/>
              <a:ea typeface="Arial"/>
              <a:cs typeface="Arial"/>
              <a:sym typeface="Arial"/>
            </a:endParaRPr>
          </a:p>
          <a:p>
            <a:pPr indent="-311150" lvl="0" marL="457200" rtl="0" algn="l">
              <a:spcBef>
                <a:spcPts val="500"/>
              </a:spcBef>
              <a:spcAft>
                <a:spcPts val="0"/>
              </a:spcAft>
              <a:buSzPts val="1200"/>
              <a:buChar char="-"/>
            </a:pPr>
            <a:r>
              <a:rPr lang="en-GB" sz="1200" b="1">
                <a:solidFill>
                  <a:srgbClr val="000000"/>
                </a:solidFill>
                <a:latin typeface="Arial"/>
                <a:ea typeface="Arial"/>
                <a:cs typeface="Arial"/>
                <a:sym typeface="Arial"/>
              </a:rPr>
              <a:t>24 hours ahead: </a:t>
            </a:r>
            <a:r>
              <a:rPr lang="en-GB" sz="1200">
                <a:solidFill>
                  <a:srgbClr val="000000"/>
                </a:solidFill>
                <a:latin typeface="Arial"/>
                <a:ea typeface="Arial"/>
                <a:cs typeface="Arial"/>
                <a:sym typeface="Arial"/>
              </a:rPr>
              <a:t>planning: how much grid power to buy, when to charge batteries, when to pre-cool.</a:t>
            </a:r>
            <a:endParaRPr lang="en-GB" sz="1200">
              <a:solidFill>
                <a:srgbClr val="000000"/>
              </a:solidFill>
              <a:latin typeface="Arial"/>
              <a:ea typeface="Arial"/>
              <a:cs typeface="Arial"/>
              <a:sym typeface="Arial"/>
            </a:endParaRPr>
          </a:p>
          <a:p>
            <a:pPr indent="-311150" lvl="0" marL="457200" rtl="0" algn="l">
              <a:spcBef>
                <a:spcPts val="500"/>
              </a:spcBef>
              <a:spcAft>
                <a:spcPts val="0"/>
              </a:spcAft>
              <a:buSzPts val="1200"/>
              <a:buChar char="-"/>
            </a:pPr>
            <a:r>
              <a:rPr lang="en-GB" sz="1200" b="1">
                <a:solidFill>
                  <a:srgbClr val="000000"/>
                </a:solidFill>
                <a:latin typeface="Arial"/>
                <a:ea typeface="Arial"/>
                <a:cs typeface="Arial"/>
                <a:sym typeface="Arial"/>
              </a:rPr>
              <a:t>Why on the edge: </a:t>
            </a:r>
            <a:r>
              <a:rPr lang="en-GB" sz="1200">
                <a:solidFill>
                  <a:srgbClr val="000000"/>
                </a:solidFill>
                <a:latin typeface="Arial"/>
                <a:ea typeface="Arial"/>
                <a:cs typeface="Arial"/>
                <a:sym typeface="Arial"/>
              </a:rPr>
              <a:t>the data stays on campus, and nothing waits on a cloud round trip.</a:t>
            </a:r>
            <a:endParaRPr lang="en-GB" sz="120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Done since the proposal, and what’s next</a:t>
            </a:r>
            <a:endParaRPr/>
          </a:p>
        </p:txBody>
      </p:sp>
      <p:sp>
        <p:nvSpPr>
          <p:cNvPr id="187" name="Google Shape;187;p29"/>
          <p:cNvSpPr txBox="1"/>
          <p:nvPr>
            <p:ph idx="1" type="body"/>
          </p:nvPr>
        </p:nvSpPr>
        <p:spPr>
          <a:xfrm>
            <a:off x="729450" y="2078875"/>
            <a:ext cx="7688700" cy="247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b="1">
                <a:solidFill>
                  <a:srgbClr val="000000"/>
                </a:solidFill>
                <a:latin typeface="Arial"/>
                <a:ea typeface="Arial"/>
                <a:cs typeface="Arial"/>
                <a:sym typeface="Arial"/>
              </a:rPr>
              <a:t>Done since the proposal</a:t>
            </a:r>
            <a:endParaRPr lang="en-GB" sz="1100">
              <a:solidFill>
                <a:srgbClr val="000000"/>
              </a:solidFill>
              <a:latin typeface="Arial"/>
              <a:ea typeface="Arial"/>
              <a:cs typeface="Arial"/>
              <a:sym typeface="Arial"/>
            </a:endParaRPr>
          </a:p>
          <a:p>
            <a:pPr indent="-298450" lvl="0" marL="457200" rtl="0" algn="l">
              <a:spcBef>
                <a:spcPts val="500"/>
              </a:spcBef>
              <a:spcAft>
                <a:spcPts val="0"/>
              </a:spcAft>
              <a:buClr>
                <a:srgbClr val="000000"/>
              </a:buClr>
              <a:buSzPts val="1100"/>
              <a:buFont typeface="Arial"/>
              <a:buChar char="●"/>
            </a:pPr>
            <a:r>
              <a:rPr lang="en-GB" sz="1100" b="1">
                <a:solidFill>
                  <a:srgbClr val="000000"/>
                </a:solidFill>
                <a:latin typeface="Arial"/>
                <a:ea typeface="Arial"/>
                <a:cs typeface="Arial"/>
                <a:sym typeface="Arial"/>
              </a:rPr>
              <a:t>Quantized with Qualcomm AIMET: </a:t>
            </a:r>
            <a:r>
              <a:rPr lang="en-GB" sz="1100">
                <a:solidFill>
                  <a:srgbClr val="000000"/>
                </a:solidFill>
                <a:latin typeface="Arial"/>
                <a:ea typeface="Arial"/>
                <a:cs typeface="Arial"/>
                <a:sym typeface="Arial"/>
              </a:rPr>
              <a:t>weights about 4× smaller, the 75 % reduction we planned</a:t>
            </a:r>
            <a:endParaRPr lang="en-GB" sz="1100">
              <a:solidFill>
                <a:srgbClr val="000000"/>
              </a:solidFill>
              <a:latin typeface="Arial"/>
              <a:ea typeface="Arial"/>
              <a:cs typeface="Arial"/>
              <a:sym typeface="Arial"/>
            </a:endParaRPr>
          </a:p>
          <a:p>
            <a:pPr indent="-298450" lvl="0" marL="457200" rtl="0" algn="l">
              <a:spcBef>
                <a:spcPts val="500"/>
              </a:spcBef>
              <a:spcAft>
                <a:spcPts val="0"/>
              </a:spcAft>
              <a:buClr>
                <a:srgbClr val="000000"/>
              </a:buClr>
              <a:buSzPts val="1100"/>
              <a:buFont typeface="Arial"/>
              <a:buChar char="●"/>
            </a:pPr>
            <a:r>
              <a:rPr lang="en-GB" sz="1100" b="1">
                <a:solidFill>
                  <a:srgbClr val="000000"/>
                </a:solidFill>
                <a:latin typeface="Arial"/>
                <a:ea typeface="Arial"/>
                <a:cs typeface="Arial"/>
                <a:sym typeface="Arial"/>
              </a:rPr>
              <a:t>Running on the QIDK and measured: </a:t>
            </a:r>
            <a:r>
              <a:rPr lang="en-GB" sz="1100">
                <a:solidFill>
                  <a:srgbClr val="000000"/>
                </a:solidFill>
                <a:latin typeface="Arial"/>
                <a:ea typeface="Arial"/>
                <a:cs typeface="Arial"/>
                <a:sym typeface="Arial"/>
              </a:rPr>
              <a:t>3.4–3.9 ms per forecast on the NPU</a:t>
            </a:r>
            <a:endParaRPr lang="en-GB" sz="1100">
              <a:solidFill>
                <a:srgbClr val="000000"/>
              </a:solidFill>
              <a:latin typeface="Arial"/>
              <a:ea typeface="Arial"/>
              <a:cs typeface="Arial"/>
              <a:sym typeface="Arial"/>
            </a:endParaRPr>
          </a:p>
          <a:p>
            <a:pPr indent="-298450" lvl="0" marL="457200" rtl="0" algn="l">
              <a:spcBef>
                <a:spcPts val="500"/>
              </a:spcBef>
              <a:spcAft>
                <a:spcPts val="0"/>
              </a:spcAft>
              <a:buClr>
                <a:srgbClr val="000000"/>
              </a:buClr>
              <a:buSzPts val="1100"/>
              <a:buFont typeface="Arial"/>
              <a:buChar char="●"/>
            </a:pPr>
            <a:r>
              <a:rPr lang="en-GB" sz="1100" b="1">
                <a:solidFill>
                  <a:srgbClr val="000000"/>
                </a:solidFill>
                <a:latin typeface="Arial"/>
                <a:ea typeface="Arial"/>
                <a:cs typeface="Arial"/>
                <a:sym typeface="Arial"/>
              </a:rPr>
              <a:t>A working demo, </a:t>
            </a:r>
            <a:r>
              <a:rPr lang="en-GB" sz="1100">
                <a:solidFill>
                  <a:srgbClr val="000000"/>
                </a:solidFill>
                <a:latin typeface="Arial"/>
                <a:ea typeface="Arial"/>
                <a:cs typeface="Arial"/>
                <a:sym typeface="Arial"/>
              </a:rPr>
              <a:t>served by the board itself</a:t>
            </a:r>
            <a:endParaRPr lang="en-GB" sz="1100">
              <a:solidFill>
                <a:srgbClr val="000000"/>
              </a:solidFill>
              <a:latin typeface="Arial"/>
              <a:ea typeface="Arial"/>
              <a:cs typeface="Arial"/>
              <a:sym typeface="Arial"/>
            </a:endParaRPr>
          </a:p>
          <a:p>
            <a:pPr indent="0" lvl="0" marL="0" rtl="0" algn="l">
              <a:spcBef>
                <a:spcPts val="900"/>
              </a:spcBef>
              <a:spcAft>
                <a:spcPts val="0"/>
              </a:spcAft>
              <a:buNone/>
            </a:pPr>
            <a:r>
              <a:rPr lang="en-GB" sz="1100" b="1">
                <a:solidFill>
                  <a:srgbClr val="000000"/>
                </a:solidFill>
                <a:latin typeface="Arial"/>
                <a:ea typeface="Arial"/>
                <a:cs typeface="Arial"/>
                <a:sym typeface="Arial"/>
              </a:rPr>
              <a:t>Next</a:t>
            </a:r>
            <a:endParaRPr lang="en-GB" sz="1100">
              <a:solidFill>
                <a:srgbClr val="000000"/>
              </a:solidFill>
              <a:latin typeface="Arial"/>
              <a:ea typeface="Arial"/>
              <a:cs typeface="Arial"/>
              <a:sym typeface="Arial"/>
            </a:endParaRPr>
          </a:p>
          <a:p>
            <a:pPr indent="-298450" lvl="0" marL="457200" rtl="0" algn="l">
              <a:spcBef>
                <a:spcPts val="500"/>
              </a:spcBef>
              <a:spcAft>
                <a:spcPts val="0"/>
              </a:spcAft>
              <a:buClr>
                <a:srgbClr val="000000"/>
              </a:buClr>
              <a:buSzPts val="1100"/>
              <a:buFont typeface="Arial"/>
              <a:buChar char="●"/>
            </a:pPr>
            <a:r>
              <a:rPr lang="en-GB" sz="1100" b="1">
                <a:solidFill>
                  <a:srgbClr val="000000"/>
                </a:solidFill>
                <a:latin typeface="Arial"/>
                <a:ea typeface="Arial"/>
                <a:cs typeface="Arial"/>
                <a:sym typeface="Arial"/>
              </a:rPr>
              <a:t>Weather and cloud-cover data </a:t>
            </a:r>
            <a:r>
              <a:rPr lang="en-GB" sz="1100">
                <a:solidFill>
                  <a:srgbClr val="000000"/>
                </a:solidFill>
                <a:latin typeface="Arial"/>
                <a:ea typeface="Arial"/>
                <a:cs typeface="Arial"/>
                <a:sym typeface="Arial"/>
              </a:rPr>
              <a:t>for 24 h solar; </a:t>
            </a:r>
            <a:r>
              <a:rPr lang="en-GB" sz="1100" b="1">
                <a:solidFill>
                  <a:srgbClr val="000000"/>
                </a:solidFill>
                <a:latin typeface="Arial"/>
                <a:ea typeface="Arial"/>
                <a:cs typeface="Arial"/>
                <a:sym typeface="Arial"/>
              </a:rPr>
              <a:t>campus almanac </a:t>
            </a:r>
            <a:r>
              <a:rPr lang="en-GB" sz="1100">
                <a:solidFill>
                  <a:srgbClr val="000000"/>
                </a:solidFill>
                <a:latin typeface="Arial"/>
                <a:ea typeface="Arial"/>
                <a:cs typeface="Arial"/>
                <a:sym typeface="Arial"/>
              </a:rPr>
              <a:t>(semesters, exams, holidays) for demand</a:t>
            </a:r>
            <a:endParaRPr lang="en-GB" sz="1100">
              <a:solidFill>
                <a:srgbClr val="000000"/>
              </a:solidFill>
              <a:latin typeface="Arial"/>
              <a:ea typeface="Arial"/>
              <a:cs typeface="Arial"/>
              <a:sym typeface="Arial"/>
            </a:endParaRPr>
          </a:p>
          <a:p>
            <a:pPr indent="-298450" lvl="0" marL="457200" rtl="0" algn="l">
              <a:spcBef>
                <a:spcPts val="500"/>
              </a:spcBef>
              <a:spcAft>
                <a:spcPts val="0"/>
              </a:spcAft>
              <a:buClr>
                <a:srgbClr val="000000"/>
              </a:buClr>
              <a:buSzPts val="1100"/>
              <a:buFont typeface="Arial"/>
              <a:buChar char="●"/>
            </a:pPr>
            <a:r>
              <a:rPr lang="en-GB" sz="1100" b="1">
                <a:solidFill>
                  <a:srgbClr val="000000"/>
                </a:solidFill>
                <a:latin typeface="Arial"/>
                <a:ea typeface="Arial"/>
                <a:cs typeface="Arial"/>
                <a:sym typeface="Arial"/>
              </a:rPr>
              <a:t>NPU-friendly architectures </a:t>
            </a:r>
            <a:r>
              <a:rPr lang="en-GB" sz="1100">
                <a:solidFill>
                  <a:srgbClr val="000000"/>
                </a:solidFill>
                <a:latin typeface="Arial"/>
                <a:ea typeface="Arial"/>
                <a:cs typeface="Arial"/>
                <a:sym typeface="Arial"/>
              </a:rPr>
              <a:t>(1-D CNN / TCN) without recurrent bottlenecks</a:t>
            </a:r>
            <a:endParaRPr lang="en-GB" sz="1100">
              <a:solidFill>
                <a:srgbClr val="000000"/>
              </a:solidFill>
              <a:latin typeface="Arial"/>
              <a:ea typeface="Arial"/>
              <a:cs typeface="Arial"/>
              <a:sym typeface="Arial"/>
            </a:endParaRPr>
          </a:p>
          <a:p>
            <a:pPr indent="-298450" lvl="0" marL="457200" rtl="0" algn="l">
              <a:spcBef>
                <a:spcPts val="500"/>
              </a:spcBef>
              <a:spcAft>
                <a:spcPts val="0"/>
              </a:spcAft>
              <a:buClr>
                <a:srgbClr val="000000"/>
              </a:buClr>
              <a:buSzPts val="1100"/>
              <a:buFont typeface="Arial"/>
              <a:buChar char="●"/>
            </a:pPr>
            <a:r>
              <a:rPr lang="en-GB" sz="1100" b="1">
                <a:solidFill>
                  <a:srgbClr val="000000"/>
                </a:solidFill>
                <a:latin typeface="Arial"/>
                <a:ea typeface="Arial"/>
                <a:cs typeface="Arial"/>
                <a:sym typeface="Arial"/>
              </a:rPr>
              <a:t>Live ingestion </a:t>
            </a:r>
            <a:r>
              <a:rPr lang="en-GB" sz="1100">
                <a:solidFill>
                  <a:srgbClr val="000000"/>
                </a:solidFill>
                <a:latin typeface="Arial"/>
                <a:ea typeface="Arial"/>
                <a:cs typeface="Arial"/>
                <a:sym typeface="Arial"/>
              </a:rPr>
              <a:t>from the node APIs, and battery scheduling (MPC) on top of the forecasts</a:t>
            </a:r>
            <a:endParaRPr lang="en-GB" sz="1100">
              <a:solidFill>
                <a:srgbClr val="000000"/>
              </a:solidFill>
              <a:latin typeface="Arial"/>
              <a:ea typeface="Arial"/>
              <a:cs typeface="Arial"/>
              <a:sym typeface="Arial"/>
            </a:endParaRPr>
          </a:p>
          <a:p>
            <a:pPr indent="-298450" lvl="0" marL="457200" rtl="0" algn="l">
              <a:spcBef>
                <a:spcPts val="500"/>
              </a:spcBef>
              <a:spcAft>
                <a:spcPts val="0"/>
              </a:spcAft>
              <a:buClr>
                <a:srgbClr val="000000"/>
              </a:buClr>
              <a:buSzPts val="1100"/>
              <a:buFont typeface="Arial"/>
              <a:buChar char="●"/>
            </a:pPr>
            <a:r>
              <a:rPr lang="en-GB" sz="1100" b="1">
                <a:solidFill>
                  <a:srgbClr val="000000"/>
                </a:solidFill>
                <a:latin typeface="Arial"/>
                <a:ea typeface="Arial"/>
                <a:cs typeface="Arial"/>
                <a:sym typeface="Arial"/>
              </a:rPr>
              <a:t>Other domains </a:t>
            </a:r>
            <a:r>
              <a:rPr lang="en-GB" sz="1100">
                <a:solidFill>
                  <a:srgbClr val="000000"/>
                </a:solidFill>
                <a:latin typeface="Arial"/>
                <a:ea typeface="Arial"/>
                <a:cs typeface="Arial"/>
                <a:sym typeface="Arial"/>
              </a:rPr>
              <a:t>(water) once that data arrives</a:t>
            </a:r>
            <a:endParaRPr lang="en-GB" sz="1100">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Where the data comes from</a:t>
            </a:r>
            <a:endParaRPr/>
          </a:p>
        </p:txBody>
      </p:sp>
      <p:pic>
        <p:nvPicPr>
          <p:cNvPr id="193" name="Google Shape;193;p30"/>
          <p:cNvPicPr preferRelativeResize="0"/>
          <p:nvPr/>
        </p:nvPicPr>
        <p:blipFill>
          <a:blip r:embed="rId3">
            <a:alphaModFix/>
          </a:blip>
          <a:stretch>
            <a:fillRect/>
          </a:stretch>
        </p:blipFill>
        <p:spPr>
          <a:xfrm>
            <a:off x="682525" y="1999837"/>
            <a:ext cx="7782574" cy="1143825"/>
          </a:xfrm>
          <a:prstGeom prst="rect">
            <a:avLst/>
          </a:prstGeom>
          <a:noFill/>
          <a:ln>
            <a:noFill/>
          </a:ln>
        </p:spPr>
      </p:pic>
      <p:sp>
        <p:nvSpPr>
          <p:cNvPr id="194" name="Google Shape;194;p30"/>
          <p:cNvSpPr txBox="1"/>
          <p:nvPr/>
        </p:nvSpPr>
        <p:spPr>
          <a:xfrm>
            <a:off x="729875" y="3340275"/>
            <a:ext cx="7735200" cy="15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accent1"/>
                </a:solidFill>
                <a:latin typeface="Lato"/>
                <a:ea typeface="Lato"/>
                <a:cs typeface="Lato"/>
                <a:sym typeface="Lato"/>
              </a:rPr>
              <a:t>A live oneM2M API on the IIIT-H testbed: </a:t>
            </a:r>
            <a:r>
              <a:rPr lang="en-GB" sz="1200" b="1">
                <a:solidFill>
                  <a:schemeClr val="accent1"/>
                </a:solidFill>
                <a:latin typeface="Lato"/>
                <a:ea typeface="Lato"/>
                <a:cs typeface="Lato"/>
                <a:sym typeface="Lato"/>
              </a:rPr>
              <a:t>1,647 resources crawled</a:t>
            </a:r>
            <a:r>
              <a:rPr lang="en-GB" sz="1200">
                <a:solidFill>
                  <a:schemeClr val="accent1"/>
                </a:solidFill>
                <a:latin typeface="Lato"/>
                <a:ea typeface="Lato"/>
                <a:cs typeface="Lato"/>
                <a:sym typeface="Lato"/>
              </a:rPr>
              <a:t> across </a:t>
            </a:r>
            <a:r>
              <a:rPr lang="en-GB" sz="1200" b="1">
                <a:solidFill>
                  <a:schemeClr val="accent1"/>
                </a:solidFill>
                <a:latin typeface="Lato"/>
                <a:ea typeface="Lato"/>
                <a:cs typeface="Lato"/>
                <a:sym typeface="Lato"/>
              </a:rPr>
              <a:t>9 device families</a:t>
            </a:r>
            <a:r>
              <a:rPr lang="en-GB" sz="1200">
                <a:solidFill>
                  <a:schemeClr val="accent1"/>
                </a:solidFill>
                <a:latin typeface="Lato"/>
                <a:ea typeface="Lato"/>
                <a:cs typeface="Lato"/>
                <a:sym typeface="Lato"/>
              </a:rPr>
              <a:t> (energy, solar, water, air quality and more).</a:t>
            </a:r>
            <a:endParaRPr lang="en-GB" sz="1200">
              <a:solidFill>
                <a:schemeClr val="accent1"/>
              </a:solidFill>
              <a:latin typeface="Lato"/>
              <a:ea typeface="Lato"/>
              <a:cs typeface="Lato"/>
              <a:sym typeface="Lato"/>
            </a:endParaRPr>
          </a:p>
          <a:p>
            <a:pPr indent="0" lvl="0" marL="0" rtl="0" algn="l">
              <a:spcBef>
                <a:spcPts val="700"/>
              </a:spcBef>
              <a:spcAft>
                <a:spcPts val="0"/>
              </a:spcAft>
              <a:buNone/>
            </a:pPr>
            <a:r>
              <a:rPr lang="en-GB" sz="1200">
                <a:solidFill>
                  <a:schemeClr val="accent1"/>
                </a:solidFill>
                <a:latin typeface="Lato"/>
                <a:ea typeface="Lato"/>
                <a:cs typeface="Lato"/>
                <a:sym typeface="Lato"/>
              </a:rPr>
              <a:t>Today we crawl the placeholder server, which has the same schema as the main API (not shared with us yet). </a:t>
            </a:r>
            <a:r>
              <a:rPr lang="en-GB" sz="1200" b="1">
                <a:solidFill>
                  <a:schemeClr val="accent1"/>
                </a:solidFill>
                <a:latin typeface="Lato"/>
                <a:ea typeface="Lato"/>
                <a:cs typeface="Lato"/>
                <a:sym typeface="Lato"/>
              </a:rPr>
              <a:t>Next: </a:t>
            </a:r>
            <a:r>
              <a:rPr lang="en-GB" sz="1200">
                <a:solidFill>
                  <a:schemeClr val="accent1"/>
                </a:solidFill>
                <a:latin typeface="Lato"/>
                <a:ea typeface="Lato"/>
                <a:cs typeface="Lato"/>
                <a:sym typeface="Lato"/>
              </a:rPr>
              <a:t>replace the one-off crawl with a live poller.</a:t>
            </a:r>
            <a:endParaRPr lang="en-GB" sz="1200">
              <a:solidFill>
                <a:schemeClr val="accen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729450" y="1250000"/>
            <a:ext cx="7688700" cy="480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Solar output: a clean daily cycle, shaped by weather</a:t>
            </a:r>
            <a:endParaRPr/>
          </a:p>
        </p:txBody>
      </p:sp>
      <p:sp>
        <p:nvSpPr>
          <p:cNvPr id="200" name="Google Shape;200;p3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1" name="Google Shape;201;p31"/>
          <p:cNvPicPr preferRelativeResize="0"/>
          <p:nvPr/>
        </p:nvPicPr>
        <p:blipFill>
          <a:blip r:embed="rId3">
            <a:alphaModFix/>
          </a:blip>
          <a:stretch>
            <a:fillRect/>
          </a:stretch>
        </p:blipFill>
        <p:spPr>
          <a:xfrm>
            <a:off x="495075" y="1760000"/>
            <a:ext cx="8157450" cy="2393851"/>
          </a:xfrm>
          <a:prstGeom prst="rect">
            <a:avLst/>
          </a:prstGeom>
          <a:noFill/>
          <a:ln>
            <a:noFill/>
          </a:ln>
        </p:spPr>
      </p:pic>
      <p:sp>
        <p:nvSpPr>
          <p:cNvPr id="202" name="Google Shape;202;p31"/>
          <p:cNvSpPr txBox="1"/>
          <p:nvPr/>
        </p:nvSpPr>
        <p:spPr>
          <a:xfrm>
            <a:off x="832925" y="4180000"/>
            <a:ext cx="729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900"/>
              <a:t>Inverter SL-NI03-00. Output peaks at midday and drops to zero overnight; cloudy days show up as lower peaks</a:t>
            </a:r>
            <a:endParaRPr b="1" sz="900"/>
          </a:p>
          <a:p>
            <a:pPr indent="0" lvl="0" marL="0" rtl="0" algn="l">
              <a:spcBef>
                <a:spcPts val="0"/>
              </a:spcBef>
              <a:spcAft>
                <a:spcPts val="0"/>
              </a:spcAft>
              <a:buNone/>
            </a:pPr>
            <a:r>
              <a:rPr b="1" lang="en-GB" sz="900"/>
              <a:t>in the monthly view.</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729450" y="1290000"/>
            <a:ext cx="7688700" cy="480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Campus demand: two peaks a day, busiest in October</a:t>
            </a:r>
            <a:endParaRPr/>
          </a:p>
        </p:txBody>
      </p:sp>
      <p:sp>
        <p:nvSpPr>
          <p:cNvPr id="208" name="Google Shape;208;p3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9" name="Google Shape;209;p32"/>
          <p:cNvPicPr preferRelativeResize="0"/>
          <p:nvPr/>
        </p:nvPicPr>
        <p:blipFill>
          <a:blip r:embed="rId3">
            <a:alphaModFix/>
          </a:blip>
          <a:stretch>
            <a:fillRect/>
          </a:stretch>
        </p:blipFill>
        <p:spPr>
          <a:xfrm>
            <a:off x="639700" y="1800000"/>
            <a:ext cx="7864576" cy="2315600"/>
          </a:xfrm>
          <a:prstGeom prst="rect">
            <a:avLst/>
          </a:prstGeom>
          <a:noFill/>
          <a:ln>
            <a:noFill/>
          </a:ln>
        </p:spPr>
      </p:pic>
      <p:sp>
        <p:nvSpPr>
          <p:cNvPr id="210" name="Google Shape;210;p32"/>
          <p:cNvSpPr txBox="1"/>
          <p:nvPr/>
        </p:nvSpPr>
        <p:spPr>
          <a:xfrm>
            <a:off x="775038" y="4318975"/>
            <a:ext cx="7593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900"/>
              <a:t>Substation EM-CR-SB00-00. Daily load swings between roughly 300 and 600 kW, with the highest daily</a:t>
            </a:r>
            <a:endParaRPr b="1" sz="900"/>
          </a:p>
          <a:p>
            <a:pPr indent="0" lvl="0" marL="0" rtl="0" algn="l">
              <a:spcBef>
                <a:spcPts val="0"/>
              </a:spcBef>
              <a:spcAft>
                <a:spcPts val="0"/>
              </a:spcAft>
              <a:buNone/>
            </a:pPr>
            <a:r>
              <a:rPr b="1" lang="en-GB" sz="900"/>
              <a:t>averages in October. Broken sensor readings were filtered out.</a:t>
            </a:r>
            <a:endParaRPr sz="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Seasons: spring peaks highest, summer lowest</a:t>
            </a:r>
            <a:endParaRPr/>
          </a:p>
        </p:txBody>
      </p:sp>
      <p:sp>
        <p:nvSpPr>
          <p:cNvPr id="216" name="Google Shape;216;p33"/>
          <p:cNvSpPr txBox="1"/>
          <p:nvPr>
            <p:ph idx="1" type="body"/>
          </p:nvPr>
        </p:nvSpPr>
        <p:spPr>
          <a:xfrm>
            <a:off x="4757100" y="2078875"/>
            <a:ext cx="36612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Spring averages about 53 kW at midday, summer about 37 kW.</a:t>
            </a:r>
            <a:endParaRPr/>
          </a:p>
          <a:p>
            <a:pPr indent="0" lvl="0" marL="0" rtl="0" algn="l">
              <a:spcBef>
                <a:spcPts val="1200"/>
              </a:spcBef>
              <a:spcAft>
                <a:spcPts val="0"/>
              </a:spcAft>
              <a:buNone/>
            </a:pPr>
            <a:r>
              <a:rPr lang="en-GB"/>
              <a:t>Summer may be dragged down by monsoon cloud. Adding weather data, our next step, will confirm it.</a:t>
            </a:r>
            <a:endParaRPr/>
          </a:p>
          <a:p>
            <a:pPr indent="0" lvl="0" marL="0" rtl="0" algn="l">
              <a:spcBef>
                <a:spcPts val="1200"/>
              </a:spcBef>
              <a:spcAft>
                <a:spcPts val="1200"/>
              </a:spcAft>
              <a:buNone/>
            </a:pPr>
            <a:r>
              <a:rPr lang="en-GB"/>
              <a:t>A model needs season-aware inputs, which is what the weather and almanac features add.</a:t>
            </a:r>
            <a:endParaRPr/>
          </a:p>
        </p:txBody>
      </p:sp>
      <p:pic>
        <p:nvPicPr>
          <p:cNvPr id="217" name="Google Shape;217;p33"/>
          <p:cNvPicPr preferRelativeResize="0"/>
          <p:nvPr/>
        </p:nvPicPr>
        <p:blipFill>
          <a:blip r:embed="rId3">
            <a:alphaModFix/>
          </a:blip>
          <a:stretch>
            <a:fillRect/>
          </a:stretch>
        </p:blipFill>
        <p:spPr>
          <a:xfrm>
            <a:off x="687675" y="2235249"/>
            <a:ext cx="3953299" cy="19483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quality: some nodes mostly repeat themselves</a:t>
            </a:r>
            <a:endParaRPr/>
          </a:p>
        </p:txBody>
      </p:sp>
      <p:sp>
        <p:nvSpPr>
          <p:cNvPr id="223" name="Google Shape;223;p34"/>
          <p:cNvSpPr txBox="1"/>
          <p:nvPr>
            <p:ph idx="1" type="body"/>
          </p:nvPr>
        </p:nvSpPr>
        <p:spPr>
          <a:xfrm>
            <a:off x="5014700" y="2078875"/>
            <a:ext cx="34035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GB"/>
              <a:t>Other problems we found</a:t>
            </a:r>
            <a:endParaRPr b="1"/>
          </a:p>
          <a:p>
            <a:pPr indent="-311150" lvl="0" marL="457200" rtl="0" algn="l">
              <a:spcBef>
                <a:spcPts val="1200"/>
              </a:spcBef>
              <a:spcAft>
                <a:spcPts val="0"/>
              </a:spcAft>
              <a:buSzPts val="1300"/>
              <a:buChar char="-"/>
            </a:pPr>
            <a:r>
              <a:rPr lang="en-GB"/>
              <a:t>Swapped active and reactive power labels on VN95-00</a:t>
            </a:r>
            <a:endParaRPr/>
          </a:p>
          <a:p>
            <a:pPr indent="-311150" lvl="0" marL="457200" rtl="0" algn="l">
              <a:spcBef>
                <a:spcPts val="0"/>
              </a:spcBef>
              <a:spcAft>
                <a:spcPts val="0"/>
              </a:spcAft>
              <a:buSzPts val="1300"/>
              <a:buChar char="-"/>
            </a:pPr>
            <a:r>
              <a:rPr lang="en-GB"/>
              <a:t>Units and signs differ between meters (W vs kW, import sign)</a:t>
            </a:r>
            <a:endParaRPr/>
          </a:p>
          <a:p>
            <a:pPr indent="-311150" lvl="0" marL="457200" rtl="0" algn="l">
              <a:spcBef>
                <a:spcPts val="0"/>
              </a:spcBef>
              <a:spcAft>
                <a:spcPts val="0"/>
              </a:spcAft>
              <a:buSzPts val="1300"/>
              <a:buChar char="-"/>
            </a:pPr>
            <a:r>
              <a:rPr lang="en-GB"/>
              <a:t>Sentinel values such as -0.999 and absurd spikes on the substation</a:t>
            </a:r>
            <a:endParaRPr/>
          </a:p>
          <a:p>
            <a:pPr indent="-311150" lvl="0" marL="457200" rtl="0" algn="l">
              <a:spcBef>
                <a:spcPts val="0"/>
              </a:spcBef>
              <a:spcAft>
                <a:spcPts val="0"/>
              </a:spcAft>
              <a:buSzPts val="1300"/>
              <a:buChar char="-"/>
            </a:pPr>
            <a:r>
              <a:rPr lang="en-GB"/>
              <a:t>Inverters send nothing at night, filled as 0 W</a:t>
            </a:r>
            <a:endParaRPr/>
          </a:p>
        </p:txBody>
      </p:sp>
      <p:pic>
        <p:nvPicPr>
          <p:cNvPr id="224" name="Google Shape;224;p34"/>
          <p:cNvPicPr preferRelativeResize="0"/>
          <p:nvPr/>
        </p:nvPicPr>
        <p:blipFill>
          <a:blip r:embed="rId3">
            <a:alphaModFix/>
          </a:blip>
          <a:stretch>
            <a:fillRect/>
          </a:stretch>
        </p:blipFill>
        <p:spPr>
          <a:xfrm>
            <a:off x="232450" y="2192252"/>
            <a:ext cx="4257499" cy="2034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benchmark to deployment: three LSTMs</a:t>
            </a:r>
            <a:endParaRPr/>
          </a:p>
        </p:txBody>
      </p:sp>
      <p:sp>
        <p:nvSpPr>
          <p:cNvPr id="230" name="Google Shape;230;p3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050"/>
              <a:t>These are the models we took onto the Qualcomm board. Each reads the last 24 hours and forecasts the whole horizon in one go. The 1-hour model is the workhorse: it drives both dispatch and fault detection.</a:t>
            </a:r>
            <a:endParaRPr lang="en-GB" sz="1050"/>
          </a:p>
          <a:p>
            <a:pPr indent="0" lvl="0" marL="0" rtl="0" algn="l">
              <a:spcBef>
                <a:spcPts val="700"/>
              </a:spcBef>
              <a:spcAft>
                <a:spcPts val="0"/>
              </a:spcAft>
              <a:buNone/>
            </a:pPr>
            <a:r>
              <a:rPr lang="en-GB" sz="1050" b="1"/>
              <a:t>R² below averages solar and grid (1 = perfect). </a:t>
            </a:r>
            <a:r>
              <a:rPr lang="en-GB" sz="1050"/>
              <a:t>Solar alone: 0.94 at 1 h and 0.80 at 24 h. The 24 h model’s weak spot is grid demand, which depends on weather and campus events: exactly what our next iteration adds.</a:t>
            </a:r>
            <a:endParaRPr lang="en-GB" sz="1050"/>
          </a:p>
        </p:txBody>
      </p:sp>
      <p:pic>
        <p:nvPicPr>
          <p:cNvPr id="231" name="Google Shape;231;p35"/>
          <p:cNvPicPr preferRelativeResize="0"/>
          <p:nvPr/>
        </p:nvPicPr>
        <p:blipFill rotWithShape="1">
          <a:blip r:embed="rId3">
            <a:alphaModFix/>
          </a:blip>
          <a:srcRect b="0" l="0" r="15612" t="0"/>
          <a:stretch/>
        </p:blipFill>
        <p:spPr>
          <a:xfrm>
            <a:off x="773373" y="3358050"/>
            <a:ext cx="7597251" cy="1516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7" name="Google Shape;237;p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8" name="Google Shape;238;p36"/>
          <p:cNvPicPr preferRelativeResize="0"/>
          <p:nvPr/>
        </p:nvPicPr>
        <p:blipFill>
          <a:blip r:embed="rId3">
            <a:alphaModFix/>
          </a:blip>
          <a:stretch>
            <a:fillRect/>
          </a:stretch>
        </p:blipFill>
        <p:spPr>
          <a:xfrm>
            <a:off x="86183" y="0"/>
            <a:ext cx="8975234" cy="51434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Making the system grow with the campus</a:t>
            </a:r>
            <a:endParaRPr/>
          </a:p>
        </p:txBody>
      </p:sp>
      <p:sp>
        <p:nvSpPr>
          <p:cNvPr id="244" name="Google Shape;244;p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b="1"/>
              <a:t>Models that keep up. </a:t>
            </a:r>
            <a:r>
              <a:rPr lang="en-GB" sz="1100"/>
              <a:t>Usage shifts and panels age. Short term: correct the forecasts on the board using recent errors, with no retraining. Longer term: retrain regularly off the board, re-quantize with the same pipeline, and only swap in a new model if it beats the old one.</a:t>
            </a:r>
            <a:endParaRPr lang="en-GB" sz="1100"/>
          </a:p>
          <a:p>
            <a:pPr indent="0" lvl="0" marL="0" rtl="0" algn="l">
              <a:spcBef>
                <a:spcPts val="700"/>
              </a:spcBef>
              <a:spcAft>
                <a:spcPts val="0"/>
              </a:spcAft>
              <a:buNone/>
            </a:pPr>
            <a:r>
              <a:rPr lang="en-GB" sz="1100" b="1"/>
              <a:t>Weather and campus events </a:t>
            </a:r>
            <a:r>
              <a:rPr lang="en-GB" sz="1100"/>
              <a:t>affect all of these readings, and they go into our next model iteration.</a:t>
            </a:r>
            <a:endParaRPr lang="en-GB" sz="1100"/>
          </a:p>
          <a:p>
            <a:pPr indent="0" lvl="0" marL="0" rtl="0" algn="l">
              <a:spcBef>
                <a:spcPts val="700"/>
              </a:spcBef>
              <a:spcAft>
                <a:spcPts val="0"/>
              </a:spcAft>
              <a:buNone/>
            </a:pPr>
            <a:r>
              <a:rPr lang="en-GB" sz="1100" b="1"/>
              <a:t>8-bit everywhere. </a:t>
            </a:r>
            <a:r>
              <a:rPr lang="en-GB" sz="1100"/>
              <a:t>16-bit activations work today. Training with quantization in mind (QAT) could make full 8-bit usable too, cutting latency and power. We haven’t tried it yet.</a:t>
            </a:r>
            <a:endParaRPr lang="en-GB" sz="1100"/>
          </a:p>
          <a:p>
            <a:pPr indent="0" lvl="0" marL="0" rtl="0" algn="l">
              <a:spcBef>
                <a:spcPts val="700"/>
              </a:spcBef>
              <a:spcAft>
                <a:spcPts val="0"/>
              </a:spcAft>
              <a:buNone/>
            </a:pPr>
            <a:r>
              <a:rPr lang="en-GB" sz="1100" b="1"/>
              <a:t>Fault detection for every node, not one. </a:t>
            </a:r>
            <a:r>
              <a:rPr lang="en-GB" sz="1100"/>
              <a:t>One model per node doesn’t scale: 11 models to train, quantize, monitor and retrain. Instead, one shared model per sensor type (solar, grid, room) runs across all nodes: 3 models however big the campus gets. We’ll also compare plants with each other, since panels under the same sky should agree. That’s how we’d catch the panel damage that campus totals hide.</a:t>
            </a:r>
            <a:endParaRPr lang="en-GB"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Shrinking the models for the NPU, without retraining</a:t>
            </a:r>
            <a:endParaRPr/>
          </a:p>
        </p:txBody>
      </p:sp>
      <p:sp>
        <p:nvSpPr>
          <p:cNvPr id="244" name="Google Shape;244;p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200"/>
              <a:buChar char="-"/>
            </a:pPr>
            <a:r>
              <a:rPr lang="en-GB" sz="1200" b="1"/>
              <a:t>Why: </a:t>
            </a:r>
            <a:r>
              <a:rPr lang="en-GB" sz="1200"/>
              <a:t>the NPU is fast at integer maths, so we convert the models from 32-bit floats to 8-bit weights. Files get about 4× smaller (153 / 297 / 71 KB).</a:t>
            </a:r>
            <a:endParaRPr lang="en-GB" sz="1200"/>
          </a:p>
          <a:p>
            <a:pPr indent="-298450" lvl="0" marL="457200" rtl="0" algn="l">
              <a:spcBef>
                <a:spcPts val="500"/>
              </a:spcBef>
              <a:spcAft>
                <a:spcPts val="0"/>
              </a:spcAft>
              <a:buSzPts val="1200"/>
              <a:buChar char="-"/>
            </a:pPr>
            <a:r>
              <a:rPr lang="en-GB" sz="1200" b="1"/>
              <a:t>Why we kept 16 bits inside: </a:t>
            </a:r>
            <a:r>
              <a:rPr lang="en-GB" sz="1200"/>
              <a:t>an LSTM passes its memory through 96 steps, and small rounding errors pile up. 16-bit activations keep it stable.</a:t>
            </a:r>
            <a:endParaRPr lang="en-GB" sz="1200"/>
          </a:p>
          <a:p>
            <a:pPr indent="-298450" lvl="0" marL="457200" rtl="0" algn="l">
              <a:spcBef>
                <a:spcPts val="500"/>
              </a:spcBef>
              <a:spcAft>
                <a:spcPts val="0"/>
              </a:spcAft>
              <a:buSzPts val="1200"/>
              <a:buChar char="-"/>
            </a:pPr>
            <a:r>
              <a:rPr lang="en-GB" sz="1200" b="1"/>
              <a:t>The main fix: </a:t>
            </a:r>
            <a:r>
              <a:rPr lang="en-GB" sz="1200"/>
              <a:t>at first we lost about 20 kW of accuracy. The tool had sized its number ranges from sample data, which never contained some values the model really produces. We set those ranges from the maths instead (an LSTM’s internal state always lies between −1 and +1), and fidelity jumped from </a:t>
            </a:r>
            <a:r>
              <a:rPr lang="en-GB" sz="1200" b="1"/>
              <a:t>44 to 78 dB</a:t>
            </a:r>
            <a:r>
              <a:rPr lang="en-GB" sz="1200"/>
              <a:t>.</a:t>
            </a:r>
            <a:endParaRPr lang="en-GB" sz="1200"/>
          </a:p>
          <a:p>
            <a:pPr indent="-298450" lvl="0" marL="457200" rtl="0" algn="l">
              <a:spcBef>
                <a:spcPts val="500"/>
              </a:spcBef>
              <a:spcAft>
                <a:spcPts val="0"/>
              </a:spcAft>
              <a:buSzPts val="1200"/>
              <a:buChar char="-"/>
            </a:pPr>
            <a:r>
              <a:rPr lang="en-GB" sz="1200" b="1"/>
              <a:t>Tool: </a:t>
            </a:r>
            <a:r>
              <a:rPr lang="en-GB" sz="1200"/>
              <a:t>Qualcomm AIMET, with the same trained models and no retraining.</a:t>
            </a:r>
            <a:endParaRPr lang="en-GB" sz="12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we learned</a:t>
            </a:r>
            <a:endParaRPr/>
          </a:p>
        </p:txBody>
      </p:sp>
      <p:sp>
        <p:nvSpPr>
          <p:cNvPr id="244" name="Google Shape;244;p3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200"/>
              <a:buChar char="-"/>
            </a:pPr>
            <a:r>
              <a:rPr lang="en-GB" sz="1200" b="1"/>
              <a:t>Test on real hardware. </a:t>
            </a:r>
            <a:r>
              <a:rPr lang="en-GB" sz="1200"/>
              <a:t>8-bit everywhere looked fine in simulation (41 dB) but broke on the NPU (15 dB for the 24 h model). Only the on-board test caught it, which is why we ship 16-bit activations.</a:t>
            </a:r>
            <a:endParaRPr lang="en-GB" sz="1200"/>
          </a:p>
          <a:p>
            <a:pPr indent="-298450" lvl="0" marL="457200" rtl="0" algn="l">
              <a:spcBef>
                <a:spcPts val="500"/>
              </a:spcBef>
              <a:spcAft>
                <a:spcPts val="0"/>
              </a:spcAft>
              <a:buSzPts val="1200"/>
              <a:buChar char="-"/>
            </a:pPr>
            <a:r>
              <a:rPr lang="en-GB" sz="1200" b="1"/>
              <a:t>Let physics set the ranges, not just sample data. </a:t>
            </a:r>
            <a:r>
              <a:rPr lang="en-GB" sz="1200"/>
              <a:t>That one change took activation fidelity from 44 to 78 dB.</a:t>
            </a:r>
            <a:endParaRPr lang="en-GB" sz="1200"/>
          </a:p>
          <a:p>
            <a:pPr indent="-298450" lvl="0" marL="457200" rtl="0" algn="l">
              <a:spcBef>
                <a:spcPts val="500"/>
              </a:spcBef>
              <a:spcAft>
                <a:spcPts val="0"/>
              </a:spcAft>
              <a:buSzPts val="1200"/>
              <a:buChar char="-"/>
            </a:pPr>
            <a:r>
              <a:rPr lang="en-GB" sz="1200" b="1"/>
              <a:t>Check what the tool really did. </a:t>
            </a:r>
            <a:r>
              <a:rPr lang="en-GB" sz="1200"/>
              <a:t>The exporter had hidden the LSTM weights, so they weren’t being shrunk to 8 bits until we fixed it.</a:t>
            </a:r>
            <a:endParaRPr lang="en-GB" sz="1200"/>
          </a:p>
          <a:p>
            <a:pPr indent="-298450" lvl="0" marL="457200" rtl="0" algn="l">
              <a:spcBef>
                <a:spcPts val="500"/>
              </a:spcBef>
              <a:spcAft>
                <a:spcPts val="0"/>
              </a:spcAft>
              <a:buSzPts val="1200"/>
              <a:buChar char="-"/>
            </a:pPr>
            <a:r>
              <a:rPr lang="en-GB" sz="1200" b="1"/>
              <a:t>Compare like with like. </a:t>
            </a:r>
            <a:r>
              <a:rPr lang="en-GB" sz="1200"/>
              <a:t>We judge the board against the original model on identical inputs, so our results don’t depend on the rebuilt dataset being perfect.</a:t>
            </a:r>
            <a:endParaRPr lang="en-GB" sz="1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Live demo: the board serves its own dashboard</a:t>
            </a:r>
            <a:endParaRPr/>
          </a:p>
        </p:txBody>
      </p:sp>
      <p:sp>
        <p:nvSpPr>
          <p:cNvPr id="216" name="Google Shape;216;p33"/>
          <p:cNvSpPr txBox="1"/>
          <p:nvPr>
            <p:ph idx="1" type="body"/>
          </p:nvPr>
        </p:nvSpPr>
        <p:spPr>
          <a:xfrm>
            <a:off x="4757100" y="2078875"/>
            <a:ext cx="36612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t>A small C++ server </a:t>
            </a:r>
            <a:r>
              <a:rPr lang="en-GB" sz="1100" b="1"/>
              <a:t>on the QIDK</a:t>
            </a:r>
            <a:r>
              <a:rPr lang="en-GB" sz="1100"/>
              <a:t> serves this page and runs the models. No laptop-side compute.</a:t>
            </a:r>
            <a:endParaRPr lang="en-GB" sz="1100"/>
          </a:p>
          <a:p>
            <a:pPr indent="0" lvl="0" marL="0" rtl="0" algn="l">
              <a:spcBef>
                <a:spcPts val="700"/>
              </a:spcBef>
              <a:spcAft>
                <a:spcPts val="0"/>
              </a:spcAft>
              <a:buNone/>
            </a:pPr>
            <a:r>
              <a:rPr lang="en-GB" sz="1100"/>
              <a:t>Replay the test period, inject a fault (dropout, spike, stuck sensor, panel damage) and watch it get flagged.</a:t>
            </a:r>
            <a:endParaRPr lang="en-GB" sz="1100"/>
          </a:p>
          <a:p>
            <a:pPr indent="0" lvl="0" marL="0" rtl="0" algn="l">
              <a:spcBef>
                <a:spcPts val="700"/>
              </a:spcBef>
              <a:spcAft>
                <a:spcPts val="0"/>
              </a:spcAft>
              <a:buNone/>
            </a:pPr>
            <a:r>
              <a:rPr lang="en-GB" sz="1100"/>
              <a:t>Edit any input or upload a CSV and run it </a:t>
            </a:r>
            <a:r>
              <a:rPr lang="en-GB" sz="1100" b="1"/>
              <a:t>live on the NPU</a:t>
            </a:r>
            <a:r>
              <a:rPr lang="en-GB" sz="1100"/>
              <a:t>: about 5 ms of compute, 2 s end to end.</a:t>
            </a:r>
            <a:endParaRPr lang="en-GB" sz="1100"/>
          </a:p>
        </p:txBody>
      </p:sp>
      <p:pic>
        <p:nvPicPr>
          <p:cNvPr id="217" name="Google Shape;217;p33"/>
          <p:cNvPicPr preferRelativeResize="0"/>
          <p:nvPr/>
        </p:nvPicPr>
        <p:blipFill>
          <a:blip r:embed="rId3">
            <a:alphaModFix/>
          </a:blip>
          <a:stretch>
            <a:fillRect/>
          </a:stretch>
        </p:blipFill>
        <p:spPr>
          <a:xfrm>
            <a:off x="687675" y="2150000"/>
            <a:ext cx="3953299" cy="247081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729450" y="1318650"/>
            <a:ext cx="7688400" cy="535200"/>
          </a:xfrm>
          <a:prstGeom prst="rect">
            <a:avLst/>
          </a:prstGeom>
        </p:spPr>
        <p:txBody>
          <a:bodyPr anchorCtr="0" anchor="t" bIns="91425" lIns="91425" spcFirstLastPara="1" rIns="91425" wrap="square" tIns="91425">
            <a:normAutofit fontScale="90000"/>
          </a:bodyPr>
          <a:lstStyle/>
          <a:p>
            <a:pPr indent="0" lvl="0" marL="0" rtl="0" algn="l">
              <a:lnSpc>
                <a:spcPct val="125000"/>
              </a:lnSpc>
              <a:spcBef>
                <a:spcPts val="1800"/>
              </a:spcBef>
              <a:spcAft>
                <a:spcPts val="1200"/>
              </a:spcAft>
              <a:buNone/>
            </a:pPr>
            <a:r>
              <a:rPr lang="en-GB"/>
              <a:t>On the board: under 4 ms, matching the originals</a:t>
            </a:r>
            <a:endParaRPr/>
          </a:p>
        </p:txBody>
      </p:sp>
      <p:graphicFrame>
        <p:nvGraphicFramePr>
          <p:cNvPr id="149" name="Google Shape;149;p23"/>
          <p:cNvGraphicFramePr/>
          <p:nvPr/>
        </p:nvGraphicFramePr>
        <p:xfrm>
          <a:off x="729450" y="2050000"/>
          <a:ext cx="7688700" cy="1200000"/>
        </p:xfrm>
        <a:graphic>
          <a:graphicData uri="http://schemas.openxmlformats.org/drawingml/2006/table">
            <a:tbl>
              <a:tblPr>
                <a:solidFill>
                  <a:srgbClr val="FFFFFF"/>
                </a:solidFill>
                <a:tableStyleId>{6FE8ECCA-3AE9-4C4A-B1EA-EB0F8E1248D3}</a:tableStyleId>
              </a:tblPr>
              <a:tblGrid>
                <a:gridCol w="1500000"/>
                <a:gridCol w="1150000"/>
                <a:gridCol w="1600000"/>
                <a:gridCol w="1900000"/>
                <a:gridCol w="1538700"/>
              </a:tblGrid>
              <a:tr h="300000">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Model</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Time on the NPU</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Matches the original</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Accuracy (R²) before → after</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Same fault verdicts</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300000">
                <a:tc>
                  <a:txBody>
                    <a:bodyPr/>
                    <a:lstStyle/>
                    <a:p>
                      <a:pPr indent="0" lvl="0" marL="0" rtl="0" algn="l">
                        <a:lnSpc>
                          <a:spcPct val="100000"/>
                        </a:lnSpc>
                        <a:spcBef>
                          <a:spcPts val="0"/>
                        </a:spcBef>
                        <a:spcAft>
                          <a:spcPts val="0"/>
                        </a:spcAft>
                        <a:buNone/>
                      </a:pPr>
                      <a:r>
                        <a:rPr lang="en-GB" sz="1100">
                          <a:solidFill>
                            <a:srgbClr val="24292E"/>
                          </a:solidFill>
                          <a:highlight>
                            <a:srgbClr val="FFFFFF"/>
                          </a:highlight>
                        </a:rPr>
                        <a:t>Campus 1 h</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3.4 ms</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48 dB</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a:solidFill>
                            <a:srgbClr val="24292E"/>
                          </a:solidFill>
                          <a:highlight>
                            <a:srgbClr val="FFFFFF"/>
                          </a:highlight>
                        </a:rPr>
                        <a:t>0.852 → 0.853</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99.7 %</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300000">
                <a:tc>
                  <a:txBody>
                    <a:bodyPr/>
                    <a:lstStyle/>
                    <a:p>
                      <a:pPr indent="0" lvl="0" marL="0" rtl="0" algn="l">
                        <a:lnSpc>
                          <a:spcPct val="100000"/>
                        </a:lnSpc>
                        <a:spcBef>
                          <a:spcPts val="0"/>
                        </a:spcBef>
                        <a:spcAft>
                          <a:spcPts val="0"/>
                        </a:spcAft>
                        <a:buNone/>
                      </a:pPr>
                      <a:r>
                        <a:rPr lang="en-GB" sz="1100">
                          <a:solidFill>
                            <a:srgbClr val="24292E"/>
                          </a:solidFill>
                          <a:highlight>
                            <a:srgbClr val="FFFFFF"/>
                          </a:highlight>
                        </a:rPr>
                        <a:t>Campus 24 h</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3.4 ms</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46 dB</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a:solidFill>
                            <a:srgbClr val="24292E"/>
                          </a:solidFill>
                          <a:highlight>
                            <a:srgbClr val="FFFFFF"/>
                          </a:highlight>
                        </a:rPr>
                        <a:t>0.339 → 0.335</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99.8 %</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r h="300000">
                <a:tc>
                  <a:txBody>
                    <a:bodyPr/>
                    <a:lstStyle/>
                    <a:p>
                      <a:pPr indent="0" lvl="0" marL="0" rtl="0" algn="l">
                        <a:lnSpc>
                          <a:spcPct val="100000"/>
                        </a:lnSpc>
                        <a:spcBef>
                          <a:spcPts val="0"/>
                        </a:spcBef>
                        <a:spcAft>
                          <a:spcPts val="0"/>
                        </a:spcAft>
                        <a:buNone/>
                      </a:pPr>
                      <a:r>
                        <a:rPr lang="en-GB" sz="1100">
                          <a:solidFill>
                            <a:srgbClr val="24292E"/>
                          </a:solidFill>
                          <a:highlight>
                            <a:srgbClr val="FFFFFF"/>
                          </a:highlight>
                        </a:rPr>
                        <a:t>One plant</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3.9 ms</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52 dB</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a:solidFill>
                            <a:srgbClr val="24292E"/>
                          </a:solidFill>
                          <a:highlight>
                            <a:srgbClr val="FFFFFF"/>
                          </a:highlight>
                        </a:rPr>
                        <a:t>0.950 → 0.950</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GB" sz="1100" b="1">
                          <a:solidFill>
                            <a:srgbClr val="24292E"/>
                          </a:solidFill>
                          <a:highlight>
                            <a:srgbClr val="FFFFFF"/>
                          </a:highlight>
                        </a:rPr>
                        <a:t>99.9 %</a:t>
                      </a:r>
                      <a:endParaRPr sz="1100">
                        <a:solidFill>
                          <a:srgbClr val="24292E"/>
                        </a:solidFill>
                        <a:highlight>
                          <a:srgbClr val="FFFFFF"/>
                        </a:highlight>
                      </a:endParaRPr>
                    </a:p>
                  </a:txBody>
                  <a:tcPr marT="57150" marB="57150" marR="123825" marL="123825">
                    <a:lnL cap="flat" cmpd="sng" w="9525">
                      <a:solidFill>
                        <a:srgbClr val="DFE2E5"/>
                      </a:solidFill>
                      <a:prstDash val="solid"/>
                      <a:round/>
                      <a:headEnd len="sm" w="sm" type="none"/>
                      <a:tailEnd len="sm" w="sm" type="none"/>
                    </a:lnL>
                    <a:lnR cap="flat" cmpd="sng" w="9525">
                      <a:solidFill>
                        <a:srgbClr val="DFE2E5"/>
                      </a:solidFill>
                      <a:prstDash val="solid"/>
                      <a:round/>
                      <a:headEnd len="sm" w="sm" type="none"/>
                      <a:tailEnd len="sm" w="sm" type="none"/>
                    </a:lnR>
                    <a:lnT cap="flat" cmpd="sng" w="9525">
                      <a:solidFill>
                        <a:srgbClr val="DFE2E5"/>
                      </a:solidFill>
                      <a:prstDash val="solid"/>
                      <a:round/>
                      <a:headEnd len="sm" w="sm" type="none"/>
                      <a:tailEnd len="sm" w="sm" type="none"/>
                    </a:lnT>
                    <a:lnB cap="flat" cmpd="sng" w="9525">
                      <a:solidFill>
                        <a:srgbClr val="DFE2E5"/>
                      </a:solidFill>
                      <a:prstDash val="solid"/>
                      <a:round/>
                      <a:headEnd len="sm" w="sm" type="none"/>
                      <a:tailEnd len="sm" w="sm" type="none"/>
                    </a:lnB>
                  </a:tcPr>
                </a:tc>
              </a:tr>
            </a:tbl>
          </a:graphicData>
        </a:graphic>
      </p:graphicFrame>
      <p:sp>
        <p:nvSpPr>
          <p:cNvPr id="150" name="Google Shape;150;p23"/>
          <p:cNvSpPr txBox="1"/>
          <p:nvPr/>
        </p:nvSpPr>
        <p:spPr>
          <a:xfrm>
            <a:off x="729450" y="3480000"/>
            <a:ext cx="7688700" cy="13000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050"/>
              <a:buChar char="-"/>
            </a:pPr>
            <a:r>
              <a:rPr lang="en-GB" sz="1050" b="1">
                <a:solidFill>
                  <a:srgbClr val="24292E"/>
                </a:solidFill>
                <a:highlight>
                  <a:schemeClr val="lt1"/>
                </a:highlight>
              </a:rPr>
              <a:t>What 48 dB means: </a:t>
            </a:r>
            <a:r>
              <a:rPr lang="en-GB" sz="1050">
                <a:solidFill>
                  <a:srgbClr val="24292E"/>
                </a:solidFill>
                <a:highlight>
                  <a:schemeClr val="lt1"/>
                </a:highlight>
              </a:rPr>
              <a:t>on the 1 h model, the board’s answer is never more than 0.45 % of capacity off the original, about ten times smaller than the forecast error itself (≈4 % for 1 h solar).</a:t>
            </a:r>
            <a:endParaRPr lang="en-GB" sz="1050">
              <a:solidFill>
                <a:srgbClr val="24292E"/>
              </a:solidFill>
              <a:highlight>
                <a:schemeClr val="lt1"/>
              </a:highlight>
            </a:endParaRPr>
          </a:p>
          <a:p>
            <a:pPr indent="-298450" lvl="0" marL="457200" rtl="0" algn="l">
              <a:spcBef>
                <a:spcPts val="500"/>
              </a:spcBef>
              <a:spcAft>
                <a:spcPts val="0"/>
              </a:spcAft>
              <a:buSzPts val="1050"/>
              <a:buChar char="-"/>
            </a:pPr>
            <a:r>
              <a:rPr lang="en-GB" sz="1050" b="1">
                <a:solidFill>
                  <a:srgbClr val="24292E"/>
                </a:solidFill>
                <a:highlight>
                  <a:schemeClr val="lt1"/>
                </a:highlight>
              </a:rPr>
              <a:t>What 3.4 ms means: </a:t>
            </a:r>
            <a:r>
              <a:rPr lang="en-GB" sz="1050">
                <a:solidFill>
                  <a:srgbClr val="24292E"/>
                </a:solidFill>
                <a:highlight>
                  <a:schemeClr val="lt1"/>
                </a:highlight>
              </a:rPr>
              <a:t>new data arrives every 15 minutes, so the board is more than 200,000× faster than it needs to be.</a:t>
            </a:r>
            <a:endParaRPr lang="en-GB" sz="1050">
              <a:solidFill>
                <a:srgbClr val="24292E"/>
              </a:solidFill>
              <a:highlight>
                <a:schemeClr val="lt1"/>
              </a:highlight>
            </a:endParaRPr>
          </a:p>
          <a:p>
            <a:pPr indent="-298450" lvl="0" marL="457200" rtl="0" algn="l">
              <a:spcBef>
                <a:spcPts val="500"/>
              </a:spcBef>
              <a:spcAft>
                <a:spcPts val="0"/>
              </a:spcAft>
              <a:buSzPts val="1050"/>
              <a:buChar char="-"/>
            </a:pPr>
            <a:r>
              <a:rPr lang="en-GB" sz="1050">
                <a:solidFill>
                  <a:srgbClr val="24292E"/>
                </a:solidFill>
                <a:highlight>
                  <a:schemeClr val="lt1"/>
                </a:highlight>
              </a:rPr>
              <a:t>Qualcomm AIMET beat the converter’s own default by 2.6–5.9 dB on every model. </a:t>
            </a:r>
            <a:r>
              <a:rPr lang="en-GB" sz="1050">
                <a:solidFill>
                  <a:srgbClr val="24292E"/>
                </a:solidFill>
                <a:highlight>
                  <a:schemeClr val="lt1"/>
                </a:highlight>
              </a:rPr>
              <a:t>Measured on ~4,800 held-out test windows per model.</a:t>
            </a:r>
            <a:endParaRPr lang="en-GB" sz="1050">
              <a:solidFill>
                <a:srgbClr val="24292E"/>
              </a:solidFill>
              <a:highlight>
                <a:schemeClr val="lt1"/>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